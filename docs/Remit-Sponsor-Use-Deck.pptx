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22c9449604964" /><Relationship Type="http://schemas.openxmlformats.org/officeDocument/2006/relationships/extended-properties" Target="/docProps/app.xml" Id="R0e9e7002783842f5" /><Relationship Type="http://schemas.openxmlformats.org/officeDocument/2006/relationships/officeDocument" Target="/ppt/presentation.xml" Id="Re85079a41857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344cf0827426f"/>
  </p:sldMasterIdLst>
  <p:notesMasterIdLst>
    <p:notesMasterId xmlns:r="http://schemas.openxmlformats.org/officeDocument/2006/relationships" r:id="Rcd1401b3694b4d09"/>
  </p:notesMasterIdLst>
  <p:sldIdLst>
    <p:sldId xmlns:r="http://schemas.openxmlformats.org/officeDocument/2006/relationships" id="256" r:id="R1b5f2b1ec4f64d67"/>
    <p:sldId xmlns:r="http://schemas.openxmlformats.org/officeDocument/2006/relationships" id="257" r:id="R983332293ec547d1"/>
    <p:sldId xmlns:r="http://schemas.openxmlformats.org/officeDocument/2006/relationships" id="258" r:id="R85b3f2334606464f"/>
    <p:sldId xmlns:r="http://schemas.openxmlformats.org/officeDocument/2006/relationships" id="259" r:id="R0c19be6a2be74663"/>
    <p:sldId xmlns:r="http://schemas.openxmlformats.org/officeDocument/2006/relationships" id="260" r:id="R81dc1af4d7104e97"/>
    <p:sldId xmlns:r="http://schemas.openxmlformats.org/officeDocument/2006/relationships" id="261" r:id="R332e62d544124aff"/>
    <p:sldId xmlns:r="http://schemas.openxmlformats.org/officeDocument/2006/relationships" id="262" r:id="Rc660b1f8dba343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ad7d1413a465a" /><Relationship Type="http://schemas.openxmlformats.org/officeDocument/2006/relationships/slideMaster" Target="/ppt/slideMasters/slideMaster1.xml" Id="R5a4344cf0827426f" /><Relationship Type="http://schemas.openxmlformats.org/officeDocument/2006/relationships/notesMaster" Target="/ppt/notesMasters/notesMaster1.xml" Id="Rcd1401b3694b4d09" /><Relationship Type="http://schemas.openxmlformats.org/officeDocument/2006/relationships/presProps" Target="/ppt/presProps.xml" Id="Rf47683e028ed4bfe" /><Relationship Type="http://schemas.openxmlformats.org/officeDocument/2006/relationships/tableStyles" Target="/ppt/tableStyles.xml" Id="R23f455ca867b4fd7" /><Relationship Type="http://schemas.openxmlformats.org/officeDocument/2006/relationships/slide" Target="/ppt/slides/slide1.xml" Id="R1b5f2b1ec4f64d67" /><Relationship Type="http://schemas.openxmlformats.org/officeDocument/2006/relationships/slide" Target="/ppt/slides/slide2.xml" Id="R983332293ec547d1" /><Relationship Type="http://schemas.openxmlformats.org/officeDocument/2006/relationships/slide" Target="/ppt/slides/slide3.xml" Id="R85b3f2334606464f" /><Relationship Type="http://schemas.openxmlformats.org/officeDocument/2006/relationships/slide" Target="/ppt/slides/slide4.xml" Id="R0c19be6a2be74663" /><Relationship Type="http://schemas.openxmlformats.org/officeDocument/2006/relationships/slide" Target="/ppt/slides/slide5.xml" Id="R81dc1af4d7104e97" /><Relationship Type="http://schemas.openxmlformats.org/officeDocument/2006/relationships/slide" Target="/ppt/slides/slide6.xml" Id="R332e62d544124aff" /><Relationship Type="http://schemas.openxmlformats.org/officeDocument/2006/relationships/slide" Target="/ppt/slides/slide7.xml" Id="Rc660b1f8dba3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b1e866297740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5c4fe530f042ab" /><Relationship Type="http://schemas.openxmlformats.org/officeDocument/2006/relationships/notesMaster" Target="/ppt/notesMasters/notesMaster1.xml" Id="R9013ad7c8697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8a06d3b714db0" /><Relationship Type="http://schemas.openxmlformats.org/officeDocument/2006/relationships/notesMaster" Target="/ppt/notesMasters/notesMaster1.xml" Id="R640d7143a8dd40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6441d2f2bc4c92" /><Relationship Type="http://schemas.openxmlformats.org/officeDocument/2006/relationships/notesMaster" Target="/ppt/notesMasters/notesMaster1.xml" Id="R3120a5e929cb42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71e95baedc4789" /><Relationship Type="http://schemas.openxmlformats.org/officeDocument/2006/relationships/notesMaster" Target="/ppt/notesMasters/notesMaster1.xml" Id="Rb8a250d8576e47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323c5ae6144bbb" /><Relationship Type="http://schemas.openxmlformats.org/officeDocument/2006/relationships/notesMaster" Target="/ppt/notesMasters/notesMaster1.xml" Id="Rc0e5251a04b1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fcd3746c1e4033" /><Relationship Type="http://schemas.openxmlformats.org/officeDocument/2006/relationships/notesMaster" Target="/ppt/notesMasters/notesMaster1.xml" Id="Reddd0c63778542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e88633921343fc" /><Relationship Type="http://schemas.openxmlformats.org/officeDocument/2006/relationships/notesMaster" Target="/ppt/notesMasters/notesMaster1.xml" Id="R3cdb8042ae9442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Remit is an accounts-payable control system for agents.</a:t>
            </a:r>
          </a:p>
          <a:p xmlns:a="http://schemas.openxmlformats.org/drawingml/2006/main">
            <a:r>
              <a:t>The core pitch: automate routine invoices, but make consequential exceptions cryptographically exact and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through-line for the sponsor conversation.</a:t>
            </a:r>
          </a:p>
          <a:p xmlns:a="http://schemas.openxmlformats.org/drawingml/2006/main">
            <a:r>
              <a:t>World changes who can satisfy authorization. Hedera changes whether the paid evidence and exact execution can reach consensus.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/Users/oisinlyons/Documents/Codex/2026-07-24/okay-so-i-have-a-hackathon/worktrees/remit-main/docs/product/PRODUCT-BRIEF.md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it is useful: creating another wallet cannot manufacture another approver.</a:t>
            </a:r>
          </a:p>
          <a:p xmlns:a="http://schemas.openxmlformats.org/drawingml/2006/main">
            <a:r>
              <a:t>Be explicit that World is not the source of the employee's company role or payment mandate.</a:t>
            </a:r>
          </a:p>
          <a:p xmlns:a="http://schemas.openxmlformats.org/drawingml/2006/main">
            <a:r>
              <a:t>The strict adapter and refusal tests are implemented offline; the repository records live World authority as NO-GO.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  <a:p xmlns:a="http://schemas.openxmlformats.org/drawingml/2006/main">
            <a:r>
              <a:t>- /Users/oisinlyons/Documents/Codex/2026-07-24/okay-so-i-have-a-hackathon/worktrees/remit-main/packages/world-adapter/test/agentbook.test.ts</a:t>
            </a:r>
          </a:p>
          <a:p xmlns:a="http://schemas.openxmlformats.org/drawingml/2006/main">
            <a:r>
              <a:t>- /Users/oisinlyons/Documents/Codex/2026-07-24/okay-so-i-have-a-hackathon/worktrees/remit-main/packages/world-adapter/test/human-approval.test.ts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x402 fee payment and the supplier settlement mechanics are deliberately separate.</a:t>
            </a:r>
          </a:p>
          <a:p xmlns:a="http://schemas.openxmlformats.org/drawingml/2006/main">
            <a:r>
              <a:t>The ambitious dual-token proof is real Hedera Testnet mechanics, but its World/x402 authority is a labelled fixture.</a:t>
            </a:r>
          </a:p>
          <a:p xmlns:a="http://schemas.openxmlformats.org/drawingml/2006/main">
            <a:r>
              <a:t>The failed batch proves all successful inner effects were rolled back when the deliberately invalid burn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/Users/oisinlyons/Documents/Codex/2026-07-24/okay-so-i-have-a-hackathon/worktrees/remit-main/docs/sponsors/HEDERA.md</a:t>
            </a:r>
          </a:p>
          <a:p xmlns:a="http://schemas.openxmlformats.org/drawingml/2006/main">
            <a:r>
              <a:t>- /Users/oisinlyons/Documents/Codex/2026-07-24/okay-so-i-have-a-hackathon/worktrees/remit-main/docs/evidence/x402-live-2026-07-26.md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  <a:p xmlns:a="http://schemas.openxmlformats.org/drawingml/2006/main">
            <a:r>
              <a:t>- https://hashscan.io/testnet/transaction/0.0.9758618-1785052376-669100601</a:t>
            </a:r>
          </a:p>
          <a:p xmlns:a="http://schemas.openxmlformats.org/drawingml/2006/main">
            <a:r>
              <a:t>- https://testnet.mirrornode.hedera.com/api/v1/transactions/0.0.9708355-1785052000-077747014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NFT here is not artwork. It is one unique serial that acts like a one-use ticket.</a:t>
            </a:r>
          </a:p>
          <a:p xmlns:a="http://schemas.openxmlformats.org/drawingml/2006/main">
            <a:r>
              <a:t>RMPAY is held by the claimant before settlement. RMCTL is held by a different control account and frozen. RMEURT is held by the payer/treasury.</a:t>
            </a:r>
          </a:p>
          <a:p xmlns:a="http://schemas.openxmlformats.org/drawingml/2006/main">
            <a:r>
              <a:t>The batch pays the current RMPAY holder, returns both NFTs to their treasuries so they can be burned, and leaves the claimant holding the synthetic payment token.</a:t>
            </a:r>
          </a:p>
          <a:p xmlns:a="http://schemas.openxmlformats.org/drawingml/2006/main">
            <a:r>
              <a:t>The legal invoice, supplier data and bank details are not stored on Hedera. NFT metadata contains commitments, not raw invoice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/Users/oisinlyons/Documents/Codex/2026-07-24/okay-so-i-have-a-hackathon/worktrees/remit-main/docs/architecture/decisions/0011-experimental-dual-token-atomic-settlement.md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  <a:p xmlns:a="http://schemas.openxmlformats.org/drawingml/2006/main">
            <a:r>
              <a:t>- /Users/oisinlyons/Documents/Codex/2026-07-24/okay-so-i-have-a-hackathon/worktrees/remit-main/scripts/dual-token-demo.ts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Plain-English line: atomicity means all or nothing.</a:t>
            </a:r>
          </a:p>
          <a:p xmlns:a="http://schemas.openxmlformats.org/drawingml/2006/main">
            <a:r>
              <a:t>Why it matters: without atomicity, the system could transfer value but fail to consume its one-use controls, or consume the controls without completing the exact settlement.</a:t>
            </a:r>
          </a:p>
          <a:p xmlns:a="http://schemas.openxmlformats.org/drawingml/2006/main">
            <a:r>
              <a:t>Demo the failed batch first. Point to INNER_TRANSACTION_FAILED and the REVERTED_SUCCESS children. Then open the successful batch and walk the five SUCCESS children.</a:t>
            </a:r>
          </a:p>
          <a:p xmlns:a="http://schemas.openxmlformats.org/drawingml/2006/main">
            <a:r>
              <a:t>Be precise: Hedera still charges processed transaction fees on the failed batch; the settlement state changes are what roll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  <a:p xmlns:a="http://schemas.openxmlformats.org/drawingml/2006/main">
            <a:r>
              <a:t>- https://testnet.mirrornode.hedera.com/api/v1/transactions/0.0.9708355-1785051992-337954908</a:t>
            </a:r>
          </a:p>
          <a:p xmlns:a="http://schemas.openxmlformats.org/drawingml/2006/main">
            <a:r>
              <a:t>- https://testnet.mirrornode.hedera.com/api/v1/transactions/0.0.9708355-1785052000-077747014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close: each sponsor changes whether a payment may proceed and leaves evidence a judge can inspect.</a:t>
            </a:r>
          </a:p>
          <a:p xmlns:a="http://schemas.openxmlformats.org/drawingml/2006/main">
            <a:r>
              <a:t>Do not overclaim. The live Hedera evidence is real; World authority is implemented and tested offline; production banking settlement is not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/Users/oisinlyons/Documents/Codex/2026-07-24/okay-so-i-have-a-hackathon/worktrees/remit-main/docs/evidence/demo-live-2026-07-26.md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  <a:p xmlns:a="http://schemas.openxmlformats.org/drawingml/2006/main">
            <a:r>
              <a:t>- https://testnet.mirrornode.hedera.com/api/v1/topics/0.0.9764806/messages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87149d5a542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9faecaed24b7e" /><Relationship Type="http://schemas.openxmlformats.org/officeDocument/2006/relationships/slideLayout" Target="/ppt/slideLayouts/slideLayout1.xml" Id="R763fc34c675a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3fc34c675a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a828b4f4447f7" /><Relationship Type="http://schemas.openxmlformats.org/officeDocument/2006/relationships/notesSlide" Target="/ppt/notesSlides/notesSlide1.xml" Id="Rb4aa5602fc2a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fcd2121442a1" /><Relationship Type="http://schemas.openxmlformats.org/officeDocument/2006/relationships/notesSlide" Target="/ppt/notesSlides/notesSlide2.xml" Id="R71fdf81eafdf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589c968114aac" /><Relationship Type="http://schemas.openxmlformats.org/officeDocument/2006/relationships/notesSlide" Target="/ppt/notesSlides/notesSlide3.xml" Id="R5f6067315f144f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ce8cbe41946c7" /><Relationship Type="http://schemas.openxmlformats.org/officeDocument/2006/relationships/notesSlide" Target="/ppt/notesSlides/notesSlide4.xml" Id="R097be6fcc90548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42b4a2edf48f9" /><Relationship Type="http://schemas.openxmlformats.org/officeDocument/2006/relationships/notesSlide" Target="/ppt/notesSlides/notesSlide5.xml" Id="Rd8255244bb2f43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05d83e39d4af8" /><Relationship Type="http://schemas.openxmlformats.org/officeDocument/2006/relationships/notesSlide" Target="/ppt/notesSlides/notesSlide6.xml" Id="Rf67ecfbf5be64d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8af2968c14100" /><Relationship Type="http://schemas.openxmlformats.org/officeDocument/2006/relationships/notesSlide" Target="/ppt/notesSlides/notesSlide7.xml" Id="R81962dd9cec94c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vent">
            <a:extLst xmlns:a="http://schemas.openxmlformats.org/drawingml/2006/main">
              <a:ext uri="{FF2B5EF4-FFF2-40B4-BE49-F238E27FC236}">
                <a16:creationId xmlns:a16="http://schemas.microsoft.com/office/drawing/2014/main" id="{882F6DF8-C7F0-4461-95EC-4034EACC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ETHGLOBAL LISBON 2026</a:t>
            </a:r>
          </a:p>
        </p:txBody>
      </p:sp>
      <p:sp>
        <p:nvSpPr>
          <p:cNvPr id="2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2F80255F-1771-4EFE-8778-659330ED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"/>
            <a:ext cx="39147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SPONSOR USE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35E6DEF-CBBF-466B-BC4E-BE1E7423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10287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Remit
Agents pay invoices.
Controls survive.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6078F97-54B2-43A4-A8F0-46D257F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00300"/>
            <a:ext cx="1038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2796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low-title">
            <a:extLst xmlns:a="http://schemas.openxmlformats.org/drawingml/2006/main">
              <a:ext uri="{FF2B5EF4-FFF2-40B4-BE49-F238E27FC236}">
                <a16:creationId xmlns:a16="http://schemas.microsoft.com/office/drawing/2014/main" id="{F02F86FF-9F1D-4200-B51A-80D58CF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digest controls the entire payment</a:t>
            </a:r>
          </a:p>
        </p:txBody>
      </p:sp>
      <p:sp>
        <p:nvSpPr>
          <p:cNvPr id="2" name="flow-line">
            <a:extLst xmlns:a="http://schemas.openxmlformats.org/drawingml/2006/main">
              <a:ext uri="{FF2B5EF4-FFF2-40B4-BE49-F238E27FC236}">
                <a16:creationId xmlns:a16="http://schemas.microsoft.com/office/drawing/2014/main" id="{14210222-DD65-4C5E-AE74-8B324D5B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ECEEACE2-7884-4A3B-9416-9DA065C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1  FREEZE</a:t>
            </a:r>
          </a:p>
        </p:txBody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131E9E56-E05F-40A3-86B9-A1547F7D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heading-1">
            <a:extLst xmlns:a="http://schemas.openxmlformats.org/drawingml/2006/main">
              <a:ext uri="{FF2B5EF4-FFF2-40B4-BE49-F238E27FC236}">
                <a16:creationId xmlns:a16="http://schemas.microsoft.com/office/drawing/2014/main" id="{DABBF686-DAE6-4A12-9A4C-93683D5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333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Canonical action</a:t>
            </a:r>
          </a:p>
        </p:txBody>
      </p:sp>
      <p:sp>
        <p:nvSpPr>
          <p:cNvPr id="6" name="flow-body-1">
            <a:extLst xmlns:a="http://schemas.openxmlformats.org/drawingml/2006/main">
              <a:ext uri="{FF2B5EF4-FFF2-40B4-BE49-F238E27FC236}">
                <a16:creationId xmlns:a16="http://schemas.microsoft.com/office/drawing/2014/main" id="{2F5C3227-D4BC-458F-A38F-B21A262E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233362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Supplier, account, amount,
asset, expiry and nonce
become one exact digest.</a:t>
            </a:r>
          </a:p>
        </p:txBody>
      </p:sp>
      <p:sp>
        <p:nvSpPr>
          <p:cNvPr id="7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0EC7ECD6-8D2D-40FD-8D77-1030525E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14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2  ROUTE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FE8940D5-2613-414C-BBFF-CD72F619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heading-2">
            <a:extLst xmlns:a="http://schemas.openxmlformats.org/drawingml/2006/main">
              <a:ext uri="{FF2B5EF4-FFF2-40B4-BE49-F238E27FC236}">
                <a16:creationId xmlns:a16="http://schemas.microsoft.com/office/drawing/2014/main" id="{2FC4411A-8668-4F21-8B55-A29618DF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33800"/>
            <a:ext cx="2333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policy</a:t>
            </a:r>
          </a:p>
        </p:txBody>
      </p:sp>
      <p:sp>
        <p:nvSpPr>
          <p:cNvPr id="1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688FD9-190B-4A8F-B9A9-CDCF94FF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305300"/>
            <a:ext cx="233362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Routine invoices run
inside mandate. Material
changes require review.</a:t>
            </a:r>
          </a:p>
        </p:txBody>
      </p:sp>
      <p:sp>
        <p:nvSpPr>
          <p:cNvPr id="11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0B85763F-4813-49E3-99C9-C73813F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3  AUTHORIZE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6D0472FA-9B0A-4FAF-83A2-BCD1A04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heading-3">
            <a:extLst xmlns:a="http://schemas.openxmlformats.org/drawingml/2006/main">
              <a:ext uri="{FF2B5EF4-FFF2-40B4-BE49-F238E27FC236}">
                <a16:creationId xmlns:a16="http://schemas.microsoft.com/office/drawing/2014/main" id="{5E1C9451-C11A-4027-A150-B79B412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2333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World-backed people</a:t>
            </a:r>
          </a:p>
        </p:txBody>
      </p:sp>
      <p:sp>
        <p:nvSpPr>
          <p:cNvPr id="1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FE26E62F-0E35-46F9-89F2-D81A29A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233362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AgentKit + AgentBook
count distinct humans,
not extra wallets.</a:t>
            </a:r>
          </a:p>
        </p:txBody>
      </p:sp>
      <p:sp>
        <p:nvSpPr>
          <p:cNvPr id="15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65511809-7E0D-41E2-85DB-A9DC645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4  EXECUTE</a:t>
            </a:r>
          </a:p>
        </p:txBody>
      </p:sp>
      <p:sp>
        <p:nvSpPr>
          <p:cNvPr id="16" name="flow-dot-4">
            <a:extLst xmlns:a="http://schemas.openxmlformats.org/drawingml/2006/main">
              <a:ext uri="{FF2B5EF4-FFF2-40B4-BE49-F238E27FC236}">
                <a16:creationId xmlns:a16="http://schemas.microsoft.com/office/drawing/2014/main" id="{DFEE702C-CE90-431C-A5D4-7ED2F248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heading-4">
            <a:extLst xmlns:a="http://schemas.openxmlformats.org/drawingml/2006/main">
              <a:ext uri="{FF2B5EF4-FFF2-40B4-BE49-F238E27FC236}">
                <a16:creationId xmlns:a16="http://schemas.microsoft.com/office/drawing/2014/main" id="{FBBE867B-10F2-4330-A52D-C9DFF3D5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33800"/>
            <a:ext cx="2333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Hedera evidence</a:t>
            </a:r>
          </a:p>
        </p:txBody>
      </p:sp>
      <p:sp>
        <p:nvSpPr>
          <p:cNvPr id="1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DF10E152-AC64-40BE-934E-0F6A414B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05300"/>
            <a:ext cx="233362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Pay for the check, move
the exact asset, publish
reconcilable receipts.</a:t>
            </a:r>
          </a:p>
        </p:txBody>
      </p:sp>
      <p:sp>
        <p:nvSpPr>
          <p:cNvPr id="19" name="flow-takeaway">
            <a:extLst xmlns:a="http://schemas.openxmlformats.org/drawingml/2006/main">
              <a:ext uri="{FF2B5EF4-FFF2-40B4-BE49-F238E27FC236}">
                <a16:creationId xmlns:a16="http://schemas.microsoft.com/office/drawing/2014/main" id="{DB86584B-159C-43FE-BD81-8FFCE5F8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990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Change one character → new digest → old approval cannot execute.</a:t>
            </a:r>
          </a:p>
        </p:txBody>
      </p:sp>
      <p:sp>
        <p:nvSpPr>
          <p:cNvPr id="20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00913E8E-DC88-432D-93C6-2A231143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9073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world-title">
            <a:extLst xmlns:a="http://schemas.openxmlformats.org/drawingml/2006/main">
              <a:ext uri="{FF2B5EF4-FFF2-40B4-BE49-F238E27FC236}">
                <a16:creationId xmlns:a16="http://schemas.microsoft.com/office/drawing/2014/main" id="{1068347C-3D79-48E5-99F7-A33B90F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World makes the quorum human, not wallet-based</a:t>
            </a:r>
          </a:p>
        </p:txBody>
      </p:sp>
      <p:sp>
        <p:nvSpPr>
          <p:cNvPr id="2" name="world-accent">
            <a:extLst xmlns:a="http://schemas.openxmlformats.org/drawingml/2006/main">
              <a:ext uri="{FF2B5EF4-FFF2-40B4-BE49-F238E27FC236}">
                <a16:creationId xmlns:a16="http://schemas.microsoft.com/office/drawing/2014/main" id="{A95F5225-FA8D-49E5-BD0A-7792F9BB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orld-left-heading">
            <a:extLst xmlns:a="http://schemas.openxmlformats.org/drawingml/2006/main">
              <a:ext uri="{FF2B5EF4-FFF2-40B4-BE49-F238E27FC236}">
                <a16:creationId xmlns:a16="http://schemas.microsoft.com/office/drawing/2014/main" id="{48244466-DD05-47FF-AB44-9551653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504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AgentKit + AgentBook</a:t>
            </a:r>
          </a:p>
        </p:txBody>
      </p:sp>
      <p:sp>
        <p:nvSpPr>
          <p:cNvPr id="4" name="world-left-body">
            <a:extLst xmlns:a="http://schemas.openxmlformats.org/drawingml/2006/main">
              <a:ext uri="{FF2B5EF4-FFF2-40B4-BE49-F238E27FC236}">
                <a16:creationId xmlns:a16="http://schemas.microsoft.com/office/drawing/2014/main" id="{A445DE19-1976-4132-9C4B-D1067171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49530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An enrolled agent wallet resolves to anonymous human backing at approval time.
Two wallets backed by one person collapse to one accountability class.</a:t>
            </a:r>
          </a:p>
        </p:txBody>
      </p:sp>
      <p:sp>
        <p:nvSpPr>
          <p:cNvPr id="5" name="world-right-heading">
            <a:extLst xmlns:a="http://schemas.openxmlformats.org/drawingml/2006/main">
              <a:ext uri="{FF2B5EF4-FFF2-40B4-BE49-F238E27FC236}">
                <a16:creationId xmlns:a16="http://schemas.microsoft.com/office/drawing/2014/main" id="{62C0E141-920E-4EDE-9D41-FB4B46A7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14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Human-in-the-Loop</a:t>
            </a:r>
          </a:p>
        </p:txBody>
      </p:sp>
      <p:sp>
        <p:nvSpPr>
          <p:cNvPr id="6" name="world-right-body">
            <a:extLst xmlns:a="http://schemas.openxmlformats.org/drawingml/2006/main">
              <a:ext uri="{FF2B5EF4-FFF2-40B4-BE49-F238E27FC236}">
                <a16:creationId xmlns:a16="http://schemas.microsoft.com/office/drawing/2014/main" id="{9F85D5C3-6F5F-42A3-A908-7FB78571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143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 changed beneficiary demands a fresh human decision bound to the exact action.
World proves human participation; Remit separately verifies company role and mandate.</a:t>
            </a:r>
          </a:p>
        </p:txBody>
      </p:sp>
      <p:sp>
        <p:nvSpPr>
          <p:cNvPr id="7" name="world-divider">
            <a:extLst xmlns:a="http://schemas.openxmlformats.org/drawingml/2006/main">
              <a:ext uri="{FF2B5EF4-FFF2-40B4-BE49-F238E27FC236}">
                <a16:creationId xmlns:a16="http://schemas.microsoft.com/office/drawing/2014/main" id="{DFA6DE44-C43B-4BB0-A6FD-90051546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33575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ld-equation">
            <a:extLst xmlns:a="http://schemas.openxmlformats.org/drawingml/2006/main">
              <a:ext uri="{FF2B5EF4-FFF2-40B4-BE49-F238E27FC236}">
                <a16:creationId xmlns:a16="http://schemas.microsoft.com/office/drawing/2014/main" id="{73B1E5B2-299A-408E-8AD3-F6359549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05400"/>
            <a:ext cx="10620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A1 + A2 = one human vote    ·    A1 + C = two distinct humans</a:t>
            </a:r>
          </a:p>
        </p:txBody>
      </p:sp>
      <p:sp>
        <p:nvSpPr>
          <p:cNvPr id="9" name="world-status">
            <a:extLst xmlns:a="http://schemas.openxmlformats.org/drawingml/2006/main">
              <a:ext uri="{FF2B5EF4-FFF2-40B4-BE49-F238E27FC236}">
                <a16:creationId xmlns:a16="http://schemas.microsoft.com/office/drawing/2014/main" id="{BB5AEA78-AADA-4318-AB8E-E2F6422F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895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 OFFLINE  ·  LIVE WORLD AUTHORITY REMAINS NO-GO</a:t>
            </a:r>
          </a:p>
        </p:txBody>
      </p:sp>
      <p:sp>
        <p:nvSpPr>
          <p:cNvPr id="10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F54CF4B-0D62-47BA-82FE-E011B9A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726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hedera-title">
            <a:extLst xmlns:a="http://schemas.openxmlformats.org/drawingml/2006/main">
              <a:ext uri="{FF2B5EF4-FFF2-40B4-BE49-F238E27FC236}">
                <a16:creationId xmlns:a16="http://schemas.microsoft.com/office/drawing/2014/main" id="{28F0B0AA-E57C-4FA9-B82B-BBC0D5F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Hedera makes the execution paid and inspectable</a:t>
            </a:r>
          </a:p>
        </p:txBody>
      </p:sp>
      <p:sp>
        <p:nvSpPr>
          <p:cNvPr id="2" name="hedera-number-1">
            <a:extLst xmlns:a="http://schemas.openxmlformats.org/drawingml/2006/main">
              <a:ext uri="{FF2B5EF4-FFF2-40B4-BE49-F238E27FC236}">
                <a16:creationId xmlns:a16="http://schemas.microsoft.com/office/drawing/2014/main" id="{65D4BA5A-E00A-462C-9515-50CC607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76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3" name="hedera-rule-1">
            <a:extLst xmlns:a="http://schemas.openxmlformats.org/drawingml/2006/main">
              <a:ext uri="{FF2B5EF4-FFF2-40B4-BE49-F238E27FC236}">
                <a16:creationId xmlns:a16="http://schemas.microsoft.com/office/drawing/2014/main" id="{A01B18E9-13E9-428A-87AC-A4067E3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dera-heading-1">
            <a:extLst xmlns:a="http://schemas.openxmlformats.org/drawingml/2006/main">
              <a:ext uri="{FF2B5EF4-FFF2-40B4-BE49-F238E27FC236}">
                <a16:creationId xmlns:a16="http://schemas.microsoft.com/office/drawing/2014/main" id="{77B3C752-CD4F-4D9D-B77A-D4E566B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x402 service purchase</a:t>
            </a:r>
          </a:p>
        </p:txBody>
      </p:sp>
      <p:sp>
        <p:nvSpPr>
          <p:cNvPr id="5" name="hedera-body-1">
            <a:extLst xmlns:a="http://schemas.openxmlformats.org/drawingml/2006/main">
              <a:ext uri="{FF2B5EF4-FFF2-40B4-BE49-F238E27FC236}">
                <a16:creationId xmlns:a16="http://schemas.microsoft.com/office/drawing/2014/main" id="{0294AAFF-70C9-4DBD-8CEB-3B379404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57625"/>
            <a:ext cx="3333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 pays 0.01 HBAR for the beneficiary check.
A separate facilitator verifies, submits and pays the network fee.</a:t>
            </a:r>
          </a:p>
        </p:txBody>
      </p:sp>
      <p:sp>
        <p:nvSpPr>
          <p:cNvPr id="6" name="hedera-number-2">
            <a:extLst xmlns:a="http://schemas.openxmlformats.org/drawingml/2006/main">
              <a:ext uri="{FF2B5EF4-FFF2-40B4-BE49-F238E27FC236}">
                <a16:creationId xmlns:a16="http://schemas.microsoft.com/office/drawing/2014/main" id="{25E53DE2-6984-4723-8719-F36EA045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76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7" name="hedera-rule-2">
            <a:extLst xmlns:a="http://schemas.openxmlformats.org/drawingml/2006/main">
              <a:ext uri="{FF2B5EF4-FFF2-40B4-BE49-F238E27FC236}">
                <a16:creationId xmlns:a16="http://schemas.microsoft.com/office/drawing/2014/main" id="{50CB98AF-18E1-47A6-A02D-B356BC4F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dera-heading-2">
            <a:extLst xmlns:a="http://schemas.openxmlformats.org/drawingml/2006/main">
              <a:ext uri="{FF2B5EF4-FFF2-40B4-BE49-F238E27FC236}">
                <a16:creationId xmlns:a16="http://schemas.microsoft.com/office/drawing/2014/main" id="{E75FB129-4C3D-4925-8A67-BD144D3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289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Dual-token settlement</a:t>
            </a:r>
          </a:p>
        </p:txBody>
      </p:sp>
      <p:sp>
        <p:nvSpPr>
          <p:cNvPr id="9" name="hedera-body-2">
            <a:extLst xmlns:a="http://schemas.openxmlformats.org/drawingml/2006/main">
              <a:ext uri="{FF2B5EF4-FFF2-40B4-BE49-F238E27FC236}">
                <a16:creationId xmlns:a16="http://schemas.microsoft.com/office/drawing/2014/main" id="{B417966F-F30A-4A45-951A-4B9A57A7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57625"/>
            <a:ext cx="3333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RMPAY represents the payable mechanics. RMCTL is a one-use control artifact.
RMEURT is the sealed synthetic settlement asset.</a:t>
            </a:r>
          </a:p>
        </p:txBody>
      </p:sp>
      <p:sp>
        <p:nvSpPr>
          <p:cNvPr id="10" name="hedera-number-3">
            <a:extLst xmlns:a="http://schemas.openxmlformats.org/drawingml/2006/main">
              <a:ext uri="{FF2B5EF4-FFF2-40B4-BE49-F238E27FC236}">
                <a16:creationId xmlns:a16="http://schemas.microsoft.com/office/drawing/2014/main" id="{3113D781-24D3-4D88-AFD0-B4F9BC4A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76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1" name="hedera-rule-3">
            <a:extLst xmlns:a="http://schemas.openxmlformats.org/drawingml/2006/main">
              <a:ext uri="{FF2B5EF4-FFF2-40B4-BE49-F238E27FC236}">
                <a16:creationId xmlns:a16="http://schemas.microsoft.com/office/drawing/2014/main" id="{E101BD88-E82A-4FDA-9976-56BEC23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24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dera-heading-3">
            <a:extLst xmlns:a="http://schemas.openxmlformats.org/drawingml/2006/main">
              <a:ext uri="{FF2B5EF4-FFF2-40B4-BE49-F238E27FC236}">
                <a16:creationId xmlns:a16="http://schemas.microsoft.com/office/drawing/2014/main" id="{CD108EA6-0FBE-46C9-9039-9430767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HIP-551 + HCS</a:t>
            </a:r>
          </a:p>
        </p:txBody>
      </p:sp>
      <p:sp>
        <p:nvSpPr>
          <p:cNvPr id="13" name="hedera-body-3">
            <a:extLst xmlns:a="http://schemas.openxmlformats.org/drawingml/2006/main">
              <a:ext uri="{FF2B5EF4-FFF2-40B4-BE49-F238E27FC236}">
                <a16:creationId xmlns:a16="http://schemas.microsoft.com/office/drawing/2014/main" id="{D191CE13-4B34-4758-A336-D6594DA9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3333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One atomic batch transfers 48,000 atoms, returns and burns both NFTs, then commits the audit event.
Mirror proves success and rollback.</a:t>
            </a:r>
          </a:p>
        </p:txBody>
      </p:sp>
      <p:sp>
        <p:nvSpPr>
          <p:cNvPr id="14" name="hedera-status">
            <a:extLst xmlns:a="http://schemas.openxmlformats.org/drawingml/2006/main">
              <a:ext uri="{FF2B5EF4-FFF2-40B4-BE49-F238E27FC236}">
                <a16:creationId xmlns:a16="http://schemas.microsoft.com/office/drawing/2014/main" id="{5B7B4BBD-9D8F-4FFD-9E00-621778E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LIVE ON TESTNET  ·  MECHANICS FIXTURE  ·  NOT A PRODUCTION PAYMENT</a:t>
            </a:r>
          </a:p>
        </p:txBody>
      </p:sp>
      <p:sp>
        <p:nvSpPr>
          <p:cNvPr id="15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CF0B3549-A0BD-4229-ACD0-34188203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2099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kens-title">
            <a:extLst xmlns:a="http://schemas.openxmlformats.org/drawingml/2006/main">
              <a:ext uri="{FF2B5EF4-FFF2-40B4-BE49-F238E27FC236}">
                <a16:creationId xmlns:a16="http://schemas.microsoft.com/office/drawing/2014/main" id="{EE4D1FAD-7909-42A4-97C6-305248C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Hedera tokens, three different jobs</a:t>
            </a:r>
          </a:p>
        </p:txBody>
      </p:sp>
      <p:sp>
        <p:nvSpPr>
          <p:cNvPr id="2" name="tokens-col-1">
            <a:extLst xmlns:a="http://schemas.openxmlformats.org/drawingml/2006/main">
              <a:ext uri="{FF2B5EF4-FFF2-40B4-BE49-F238E27FC236}">
                <a16:creationId xmlns:a16="http://schemas.microsoft.com/office/drawing/2014/main" id="{B05A21BF-A97D-4186-A7E5-888A2C1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38300"/>
            <a:ext cx="1381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TOKEN</a:t>
            </a:r>
          </a:p>
        </p:txBody>
      </p:sp>
      <p:sp>
        <p:nvSpPr>
          <p:cNvPr id="3" name="tokens-col-2">
            <a:extLst xmlns:a="http://schemas.openxmlformats.org/drawingml/2006/main">
              <a:ext uri="{FF2B5EF4-FFF2-40B4-BE49-F238E27FC236}">
                <a16:creationId xmlns:a16="http://schemas.microsoft.com/office/drawing/2014/main" id="{5AAC7B3F-81BB-4839-BDF5-6AD12D54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WHAT IT IS</a:t>
            </a:r>
          </a:p>
        </p:txBody>
      </p:sp>
      <p:sp>
        <p:nvSpPr>
          <p:cNvPr id="4" name="tokens-col-3">
            <a:extLst xmlns:a="http://schemas.openxmlformats.org/drawingml/2006/main">
              <a:ext uri="{FF2B5EF4-FFF2-40B4-BE49-F238E27FC236}">
                <a16:creationId xmlns:a16="http://schemas.microsoft.com/office/drawing/2014/main" id="{A7FFC97D-74CE-4B1E-BED7-6B6232B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383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BEFORE SETTLEMENT</a:t>
            </a:r>
          </a:p>
        </p:txBody>
      </p:sp>
      <p:sp>
        <p:nvSpPr>
          <p:cNvPr id="5" name="tokens-col-4">
            <a:extLst xmlns:a="http://schemas.openxmlformats.org/drawingml/2006/main">
              <a:ext uri="{FF2B5EF4-FFF2-40B4-BE49-F238E27FC236}">
                <a16:creationId xmlns:a16="http://schemas.microsoft.com/office/drawing/2014/main" id="{F0732ADC-1883-4F23-A3A4-AD5407DF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AFTER THE ATOMIC BATCH</a:t>
            </a:r>
          </a:p>
        </p:txBody>
      </p:sp>
      <p:sp>
        <p:nvSpPr>
          <p:cNvPr id="6" name="tokens-header-rule">
            <a:extLst xmlns:a="http://schemas.openxmlformats.org/drawingml/2006/main">
              <a:ext uri="{FF2B5EF4-FFF2-40B4-BE49-F238E27FC236}">
                <a16:creationId xmlns:a16="http://schemas.microsoft.com/office/drawing/2014/main" id="{2C390BE9-C069-491B-BB3C-A4917BD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kens-symbol-1">
            <a:extLst xmlns:a="http://schemas.openxmlformats.org/drawingml/2006/main">
              <a:ext uri="{FF2B5EF4-FFF2-40B4-BE49-F238E27FC236}">
                <a16:creationId xmlns:a16="http://schemas.microsoft.com/office/drawing/2014/main" id="{994B7727-7019-4655-B86D-F272C8D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152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RMPAY</a:t>
            </a:r>
          </a:p>
        </p:txBody>
      </p:sp>
      <p:sp>
        <p:nvSpPr>
          <p:cNvPr id="8" name="tokens-type-1">
            <a:extLst xmlns:a="http://schemas.openxmlformats.org/drawingml/2006/main">
              <a:ext uri="{FF2B5EF4-FFF2-40B4-BE49-F238E27FC236}">
                <a16:creationId xmlns:a16="http://schemas.microsoft.com/office/drawing/2014/main" id="{B3C3EC13-5454-424F-ADA5-7D8E931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24100"/>
            <a:ext cx="200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NFT
Payable ticket</a:t>
            </a:r>
          </a:p>
        </p:txBody>
      </p:sp>
      <p:sp>
        <p:nvSpPr>
          <p:cNvPr id="9" name="tokens-before-1">
            <a:extLst xmlns:a="http://schemas.openxmlformats.org/drawingml/2006/main">
              <a:ext uri="{FF2B5EF4-FFF2-40B4-BE49-F238E27FC236}">
                <a16:creationId xmlns:a16="http://schemas.microsoft.com/office/drawing/2014/main" id="{AC3BC6DE-0768-463F-A1DC-39A2A89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241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Claimant account
(the fixed beneficiary)</a:t>
            </a:r>
          </a:p>
        </p:txBody>
      </p:sp>
      <p:sp>
        <p:nvSpPr>
          <p:cNvPr id="10" name="tokens-after-1">
            <a:extLst xmlns:a="http://schemas.openxmlformats.org/drawingml/2006/main">
              <a:ext uri="{FF2B5EF4-FFF2-40B4-BE49-F238E27FC236}">
                <a16:creationId xmlns:a16="http://schemas.microsoft.com/office/drawing/2014/main" id="{F877C9D9-76F2-4B18-A32D-E6DF092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476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Returned to treasury,
then burned</a:t>
            </a:r>
          </a:p>
        </p:txBody>
      </p:sp>
      <p:sp>
        <p:nvSpPr>
          <p:cNvPr id="11" name="tokens-row-rule-1">
            <a:extLst xmlns:a="http://schemas.openxmlformats.org/drawingml/2006/main">
              <a:ext uri="{FF2B5EF4-FFF2-40B4-BE49-F238E27FC236}">
                <a16:creationId xmlns:a16="http://schemas.microsoft.com/office/drawing/2014/main" id="{F7F5E647-F3EA-413C-B234-A2C39FB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908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kens-symbol-2">
            <a:extLst xmlns:a="http://schemas.openxmlformats.org/drawingml/2006/main">
              <a:ext uri="{FF2B5EF4-FFF2-40B4-BE49-F238E27FC236}">
                <a16:creationId xmlns:a16="http://schemas.microsoft.com/office/drawing/2014/main" id="{11FC99DD-91BA-4482-8538-100DF41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152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RMCTL</a:t>
            </a:r>
          </a:p>
        </p:txBody>
      </p:sp>
      <p:sp>
        <p:nvSpPr>
          <p:cNvPr id="13" name="tokens-type-2">
            <a:extLst xmlns:a="http://schemas.openxmlformats.org/drawingml/2006/main">
              <a:ext uri="{FF2B5EF4-FFF2-40B4-BE49-F238E27FC236}">
                <a16:creationId xmlns:a16="http://schemas.microsoft.com/office/drawing/2014/main" id="{89972D80-39B8-43EF-8591-8C48EA9B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90900"/>
            <a:ext cx="200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NFT
Control ticket</a:t>
            </a:r>
          </a:p>
        </p:txBody>
      </p:sp>
      <p:sp>
        <p:nvSpPr>
          <p:cNvPr id="14" name="tokens-before-2">
            <a:extLst xmlns:a="http://schemas.openxmlformats.org/drawingml/2006/main">
              <a:ext uri="{FF2B5EF4-FFF2-40B4-BE49-F238E27FC236}">
                <a16:creationId xmlns:a16="http://schemas.microsoft.com/office/drawing/2014/main" id="{EB1F8B2A-EC16-441C-9913-EAE30449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control account
KYC granted · frozen</a:t>
            </a:r>
          </a:p>
        </p:txBody>
      </p:sp>
      <p:sp>
        <p:nvSpPr>
          <p:cNvPr id="15" name="tokens-after-2">
            <a:extLst xmlns:a="http://schemas.openxmlformats.org/drawingml/2006/main">
              <a:ext uri="{FF2B5EF4-FFF2-40B4-BE49-F238E27FC236}">
                <a16:creationId xmlns:a16="http://schemas.microsoft.com/office/drawing/2014/main" id="{DD2234C6-7D80-416E-B246-5B6324D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3476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Unfrozen, returned,
then burned</a:t>
            </a:r>
          </a:p>
        </p:txBody>
      </p:sp>
      <p:sp>
        <p:nvSpPr>
          <p:cNvPr id="16" name="tokens-row-rule-2">
            <a:extLst xmlns:a="http://schemas.openxmlformats.org/drawingml/2006/main">
              <a:ext uri="{FF2B5EF4-FFF2-40B4-BE49-F238E27FC236}">
                <a16:creationId xmlns:a16="http://schemas.microsoft.com/office/drawing/2014/main" id="{88AA876C-CF5B-4633-BD6E-FC13C773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576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kens-symbol-3">
            <a:extLst xmlns:a="http://schemas.openxmlformats.org/drawingml/2006/main">
              <a:ext uri="{FF2B5EF4-FFF2-40B4-BE49-F238E27FC236}">
                <a16:creationId xmlns:a16="http://schemas.microsoft.com/office/drawing/2014/main" id="{F1CB6DC3-15C6-422C-A47D-12E6DD9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152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RMEURT</a:t>
            </a:r>
          </a:p>
        </p:txBody>
      </p:sp>
      <p:sp>
        <p:nvSpPr>
          <p:cNvPr id="18" name="tokens-type-3">
            <a:extLst xmlns:a="http://schemas.openxmlformats.org/drawingml/2006/main">
              <a:ext uri="{FF2B5EF4-FFF2-40B4-BE49-F238E27FC236}">
                <a16:creationId xmlns:a16="http://schemas.microsoft.com/office/drawing/2014/main" id="{830B8A9B-D296-4DC8-B508-7D9E8E71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57700"/>
            <a:ext cx="200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Fungible token
2-decimal test asset</a:t>
            </a:r>
          </a:p>
        </p:txBody>
      </p:sp>
      <p:sp>
        <p:nvSpPr>
          <p:cNvPr id="19" name="tokens-before-3">
            <a:extLst xmlns:a="http://schemas.openxmlformats.org/drawingml/2006/main">
              <a:ext uri="{FF2B5EF4-FFF2-40B4-BE49-F238E27FC236}">
                <a16:creationId xmlns:a16="http://schemas.microsoft.com/office/drawing/2014/main" id="{87FE72AB-F006-4E3D-8750-95E27BA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Payer / treasury account
48,000 sealed atoms</a:t>
            </a:r>
          </a:p>
        </p:txBody>
      </p:sp>
      <p:sp>
        <p:nvSpPr>
          <p:cNvPr id="20" name="tokens-after-3">
            <a:extLst xmlns:a="http://schemas.openxmlformats.org/drawingml/2006/main">
              <a:ext uri="{FF2B5EF4-FFF2-40B4-BE49-F238E27FC236}">
                <a16:creationId xmlns:a16="http://schemas.microsoft.com/office/drawing/2014/main" id="{B3085C59-48D8-4C19-8ACB-C4BE702E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3476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Claimant account
holds all 48,000 atoms</a:t>
            </a:r>
          </a:p>
        </p:txBody>
      </p:sp>
      <p:sp>
        <p:nvSpPr>
          <p:cNvPr id="21" name="tokens-row-rule-3">
            <a:extLst xmlns:a="http://schemas.openxmlformats.org/drawingml/2006/main">
              <a:ext uri="{FF2B5EF4-FFF2-40B4-BE49-F238E27FC236}">
                <a16:creationId xmlns:a16="http://schemas.microsoft.com/office/drawing/2014/main" id="{5577AD21-6C2C-4967-8B0C-31D3E895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244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kens-storage-boundary">
            <a:extLst xmlns:a="http://schemas.openxmlformats.org/drawingml/2006/main">
              <a:ext uri="{FF2B5EF4-FFF2-40B4-BE49-F238E27FC236}">
                <a16:creationId xmlns:a16="http://schemas.microsoft.com/office/drawing/2014/main" id="{EBAD87EB-E918-49D4-88E7-B1B5A2D0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1062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invoice stays off-chain in Remit. Hedera stores token state and digest-only commitments; HCS stores audit messages; Mirror is the public read-back view.</a:t>
            </a:r>
          </a:p>
        </p:txBody>
      </p:sp>
      <p:sp>
        <p:nvSpPr>
          <p:cNvPr id="2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A02193B2-D082-4F59-82C2-AA2BDD41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52316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tomicity-title">
            <a:extLst xmlns:a="http://schemas.openxmlformats.org/drawingml/2006/main">
              <a:ext uri="{FF2B5EF4-FFF2-40B4-BE49-F238E27FC236}">
                <a16:creationId xmlns:a16="http://schemas.microsoft.com/office/drawing/2014/main" id="{EAB61C37-F9CB-434E-8DB0-99E5A27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Atomicity means all five steps happen — or none do</a:t>
            </a:r>
          </a:p>
        </p:txBody>
      </p:sp>
      <p:sp>
        <p:nvSpPr>
          <p:cNvPr id="2" name="atomicity-accent">
            <a:extLst xmlns:a="http://schemas.openxmlformats.org/drawingml/2006/main">
              <a:ext uri="{FF2B5EF4-FFF2-40B4-BE49-F238E27FC236}">
                <a16:creationId xmlns:a16="http://schemas.microsoft.com/office/drawing/2014/main" id="{509BC02F-C184-469C-A18A-6AB8EEF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tomicity-failed-label">
            <a:extLst xmlns:a="http://schemas.openxmlformats.org/drawingml/2006/main">
              <a:ext uri="{FF2B5EF4-FFF2-40B4-BE49-F238E27FC236}">
                <a16:creationId xmlns:a16="http://schemas.microsoft.com/office/drawing/2014/main" id="{8C6FCB54-F02C-49DC-A1CD-54CC5B2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19275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FAILED BATCH</a:t>
            </a:r>
          </a:p>
        </p:txBody>
      </p:sp>
      <p:sp>
        <p:nvSpPr>
          <p:cNvPr id="4" name="atomicity-failed-heading">
            <a:extLst xmlns:a="http://schemas.openxmlformats.org/drawingml/2006/main">
              <a:ext uri="{FF2B5EF4-FFF2-40B4-BE49-F238E27FC236}">
                <a16:creationId xmlns:a16="http://schemas.microsoft.com/office/drawing/2014/main" id="{77F4687E-EA8E-423D-9F18-634B4C98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4762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Deliberately invalid
Control burn</a:t>
            </a:r>
          </a:p>
        </p:txBody>
      </p:sp>
      <p:sp>
        <p:nvSpPr>
          <p:cNvPr id="5" name="atomicity-failed-sequence">
            <a:extLst xmlns:a="http://schemas.openxmlformats.org/drawingml/2006/main">
              <a:ext uri="{FF2B5EF4-FFF2-40B4-BE49-F238E27FC236}">
                <a16:creationId xmlns:a16="http://schemas.microsoft.com/office/drawing/2014/main" id="{D53B4830-4FC8-480A-A951-9E4D203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5095875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1  Control unfreeze        REVERTED_SUCCESS
2  Transfer + NFT return   REVERTED_SUCCESS
3  Payable burn             REVERTED_SUCCESS
4  Control burn             INVALID_NFT_ID
5  HCS commitment           NEVER EXECUTED</a:t>
            </a:r>
          </a:p>
        </p:txBody>
      </p:sp>
      <p:sp>
        <p:nvSpPr>
          <p:cNvPr id="6" name="atomicity-failed-result">
            <a:extLst xmlns:a="http://schemas.openxmlformats.org/drawingml/2006/main">
              <a:ext uri="{FF2B5EF4-FFF2-40B4-BE49-F238E27FC236}">
                <a16:creationId xmlns:a16="http://schemas.microsoft.com/office/drawing/2014/main" id="{2684ED9C-0D99-47C0-B322-9AD89F53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Ledger state stayed unchanged.</a:t>
            </a:r>
          </a:p>
        </p:txBody>
      </p:sp>
      <p:sp>
        <p:nvSpPr>
          <p:cNvPr id="7" name="atomicity-divider">
            <a:extLst xmlns:a="http://schemas.openxmlformats.org/drawingml/2006/main">
              <a:ext uri="{FF2B5EF4-FFF2-40B4-BE49-F238E27FC236}">
                <a16:creationId xmlns:a16="http://schemas.microsoft.com/office/drawing/2014/main" id="{74A2A15F-CCCA-462E-90B9-BFFD18D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19275"/>
            <a:ext cx="9525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tomicity-success-label">
            <a:extLst xmlns:a="http://schemas.openxmlformats.org/drawingml/2006/main">
              <a:ext uri="{FF2B5EF4-FFF2-40B4-BE49-F238E27FC236}">
                <a16:creationId xmlns:a16="http://schemas.microsoft.com/office/drawing/2014/main" id="{F9671369-4296-4D6B-9C90-02671AC8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1927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SUCCESSFUL BATCH</a:t>
            </a:r>
          </a:p>
        </p:txBody>
      </p:sp>
      <p:sp>
        <p:nvSpPr>
          <p:cNvPr id="9" name="atomicity-success-heading">
            <a:extLst xmlns:a="http://schemas.openxmlformats.org/drawingml/2006/main">
              <a:ext uri="{FF2B5EF4-FFF2-40B4-BE49-F238E27FC236}">
                <a16:creationId xmlns:a16="http://schemas.microsoft.com/office/drawing/2014/main" id="{18C1AF68-2151-4279-9B7F-6BC6580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4762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settlement
committed once</a:t>
            </a:r>
          </a:p>
        </p:txBody>
      </p:sp>
      <p:sp>
        <p:nvSpPr>
          <p:cNvPr id="10" name="atomicity-success-sequence">
            <a:extLst xmlns:a="http://schemas.openxmlformats.org/drawingml/2006/main">
              <a:ext uri="{FF2B5EF4-FFF2-40B4-BE49-F238E27FC236}">
                <a16:creationId xmlns:a16="http://schemas.microsoft.com/office/drawing/2014/main" id="{39F79ACA-59E0-4B3E-A6FA-DDC7210A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48050"/>
            <a:ext cx="51435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1  Control unfreeze        SUCCESS
2  48,000-atom transfer     SUCCESS
3  Payable NFT burn         SUCCESS
4  Control NFT burn         SUCCESS
5  HCS commitment           SUCCESS</a:t>
            </a:r>
          </a:p>
        </p:txBody>
      </p:sp>
      <p:sp>
        <p:nvSpPr>
          <p:cNvPr id="11" name="atomicity-success-result">
            <a:extLst xmlns:a="http://schemas.openxmlformats.org/drawingml/2006/main">
              <a:ext uri="{FF2B5EF4-FFF2-40B4-BE49-F238E27FC236}">
                <a16:creationId xmlns:a16="http://schemas.microsoft.com/office/drawing/2014/main" id="{88A3BEEE-82F9-45EA-8630-AAF5BF4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095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No half-settled state can survive.</a:t>
            </a:r>
          </a:p>
        </p:txBody>
      </p:sp>
      <p:sp>
        <p:nvSpPr>
          <p:cNvPr id="12" name="atomicity-boundary">
            <a:extLst xmlns:a="http://schemas.openxmlformats.org/drawingml/2006/main">
              <a:ext uri="{FF2B5EF4-FFF2-40B4-BE49-F238E27FC236}">
                <a16:creationId xmlns:a16="http://schemas.microsoft.com/office/drawing/2014/main" id="{AF052A66-4DB9-4B2A-BC2B-12ECB55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network may still charge processing fees for a failed batch; the protected settlement state is what rolls back.</a:t>
            </a:r>
          </a:p>
        </p:txBody>
      </p:sp>
      <p:sp>
        <p:nvSpPr>
          <p:cNvPr id="1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9C1FB8DD-1B4B-45B4-B188-340B112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6173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roof-title">
            <a:extLst xmlns:a="http://schemas.openxmlformats.org/drawingml/2006/main">
              <a:ext uri="{FF2B5EF4-FFF2-40B4-BE49-F238E27FC236}">
                <a16:creationId xmlns:a16="http://schemas.microsoft.com/office/drawing/2014/main" id="{F4725B9D-2A77-44C2-A9D6-AC95B0D8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integrations change real outcomes</a:t>
            </a:r>
          </a:p>
        </p:txBody>
      </p:sp>
      <p:sp>
        <p:nvSpPr>
          <p:cNvPr id="2" name="proof-intro">
            <a:extLst xmlns:a="http://schemas.openxmlformats.org/drawingml/2006/main">
              <a:ext uri="{FF2B5EF4-FFF2-40B4-BE49-F238E27FC236}">
                <a16:creationId xmlns:a16="http://schemas.microsoft.com/office/drawing/2014/main" id="{54AF257D-4150-4757-9EA8-48686585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10858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Demo it in this order: refuse the duplicate human, show the paid verification receipt, then open the atomic settlement and audit evidence.</a:t>
            </a:r>
          </a:p>
        </p:txBody>
      </p:sp>
      <p:sp>
        <p:nvSpPr>
          <p:cNvPr id="3" name="proof-panel-1">
            <a:extLst xmlns:a="http://schemas.openxmlformats.org/drawingml/2006/main">
              <a:ext uri="{FF2B5EF4-FFF2-40B4-BE49-F238E27FC236}">
                <a16:creationId xmlns:a16="http://schemas.microsoft.com/office/drawing/2014/main" id="{19332C4B-1129-461E-82F4-1855002A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3562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0CB2D45B-C383-49F5-B43E-CC74FEB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3000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→ 1</a:t>
            </a:r>
          </a:p>
        </p:txBody>
      </p:sp>
      <p:sp>
        <p:nvSpPr>
          <p:cNvPr id="5" name="proof-heading-1">
            <a:extLst xmlns:a="http://schemas.openxmlformats.org/drawingml/2006/main">
              <a:ext uri="{FF2B5EF4-FFF2-40B4-BE49-F238E27FC236}">
                <a16:creationId xmlns:a16="http://schemas.microsoft.com/office/drawing/2014/main" id="{88DDC7FE-CD50-479D-8FFC-C8547288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14800"/>
            <a:ext cx="3000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wallets collapse</a:t>
            </a:r>
          </a:p>
        </p:txBody>
      </p:sp>
      <p:sp>
        <p:nvSpPr>
          <p:cNvPr id="6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3A298E45-94A3-4D58-B77F-289C073E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05350"/>
            <a:ext cx="29051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World adapter refuses a manufactured second approver.</a:t>
            </a:r>
          </a:p>
        </p:txBody>
      </p:sp>
      <p:sp>
        <p:nvSpPr>
          <p:cNvPr id="7" name="proof-panel-2">
            <a:extLst xmlns:a="http://schemas.openxmlformats.org/drawingml/2006/main">
              <a:ext uri="{FF2B5EF4-FFF2-40B4-BE49-F238E27FC236}">
                <a16:creationId xmlns:a16="http://schemas.microsoft.com/office/drawing/2014/main" id="{7917B911-105B-4C25-A111-804EEE07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9EEC8234-CA40-43B6-B6EB-36C21BC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3000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0.01 HBAR</a:t>
            </a:r>
          </a:p>
        </p:txBody>
      </p:sp>
      <p:sp>
        <p:nvSpPr>
          <p:cNvPr id="9" name="proof-heading-2">
            <a:extLst xmlns:a="http://schemas.openxmlformats.org/drawingml/2006/main">
              <a:ext uri="{FF2B5EF4-FFF2-40B4-BE49-F238E27FC236}">
                <a16:creationId xmlns:a16="http://schemas.microsoft.com/office/drawing/2014/main" id="{C8DEB330-37DD-4D0A-BDD5-86E23552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14800"/>
            <a:ext cx="3000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paid verification</a:t>
            </a:r>
          </a:p>
        </p:txBody>
      </p:sp>
      <p:sp>
        <p:nvSpPr>
          <p:cNvPr id="10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C17245C3-5989-4225-9C6F-34E2CE2B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05350"/>
            <a:ext cx="29051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Mirror confirms payer, service, facilitator and fee.</a:t>
            </a:r>
          </a:p>
        </p:txBody>
      </p:sp>
      <p:sp>
        <p:nvSpPr>
          <p:cNvPr id="11" name="proof-panel-3">
            <a:extLst xmlns:a="http://schemas.openxmlformats.org/drawingml/2006/main">
              <a:ext uri="{FF2B5EF4-FFF2-40B4-BE49-F238E27FC236}">
                <a16:creationId xmlns:a16="http://schemas.microsoft.com/office/drawing/2014/main" id="{FDE15370-A8F6-4256-8BE5-6B2E313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562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of-stat-3">
            <a:extLst xmlns:a="http://schemas.openxmlformats.org/drawingml/2006/main">
              <a:ext uri="{FF2B5EF4-FFF2-40B4-BE49-F238E27FC236}">
                <a16:creationId xmlns:a16="http://schemas.microsoft.com/office/drawing/2014/main" id="{82BEB2DC-EA2E-4047-8A02-1386ACDD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3000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txns</a:t>
            </a:r>
          </a:p>
        </p:txBody>
      </p:sp>
      <p:sp>
        <p:nvSpPr>
          <p:cNvPr id="13" name="proof-heading-3">
            <a:extLst xmlns:a="http://schemas.openxmlformats.org/drawingml/2006/main">
              <a:ext uri="{FF2B5EF4-FFF2-40B4-BE49-F238E27FC236}">
                <a16:creationId xmlns:a16="http://schemas.microsoft.com/office/drawing/2014/main" id="{FCF77A0D-77CF-48EF-8E01-7FE60844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14800"/>
            <a:ext cx="3000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atomic batch</a:t>
            </a:r>
          </a:p>
        </p:txBody>
      </p:sp>
      <p:sp>
        <p:nvSpPr>
          <p:cNvPr id="14" name="proof-body-3">
            <a:extLst xmlns:a="http://schemas.openxmlformats.org/drawingml/2006/main">
              <a:ext uri="{FF2B5EF4-FFF2-40B4-BE49-F238E27FC236}">
                <a16:creationId xmlns:a16="http://schemas.microsoft.com/office/drawing/2014/main" id="{57C69D9D-3731-4494-AD53-204F8D45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05350"/>
            <a:ext cx="29051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48,000 atoms, two NFT burns and an HCS commitment.</a:t>
            </a:r>
          </a:p>
        </p:txBody>
      </p:sp>
      <p:sp>
        <p:nvSpPr>
          <p:cNvPr id="15" name="proof-boundary">
            <a:extLst xmlns:a="http://schemas.openxmlformats.org/drawingml/2006/main">
              <a:ext uri="{FF2B5EF4-FFF2-40B4-BE49-F238E27FC236}">
                <a16:creationId xmlns:a16="http://schemas.microsoft.com/office/drawing/2014/main" id="{5DA1CDA2-D7C6-4153-A8AB-587D6C0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81675"/>
            <a:ext cx="1038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Testnet assets only. Live World humans and production supplier settlement remain out of scope.</a:t>
            </a:r>
          </a:p>
        </p:txBody>
      </p:sp>
      <p:sp>
        <p:nvSpPr>
          <p:cNvPr id="16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1C3B2C64-FB81-488F-A1E7-958EF2E1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91222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2026-07-26T08:38:25.7220000Z</dcterms:created>
  <dcterms:modified xsi:type="dcterms:W3CDTF">2026-07-26T08:38:25.7220000Z</dcterms:modified>
</coreProperties>
</file>