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97a3ec2b948b9" /><Relationship Type="http://schemas.openxmlformats.org/officeDocument/2006/relationships/extended-properties" Target="/docProps/app.xml" Id="Rb3e4b1f1df0c4e58" /><Relationship Type="http://schemas.openxmlformats.org/officeDocument/2006/relationships/officeDocument" Target="/ppt/presentation.xml" Id="R09f6e033fee740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6a1e130ed43ce"/>
  </p:sldMasterIdLst>
  <p:notesMasterIdLst>
    <p:notesMasterId xmlns:r="http://schemas.openxmlformats.org/officeDocument/2006/relationships" r:id="R2de7304d92624ab6"/>
  </p:notesMasterIdLst>
  <p:sldIdLst>
    <p:sldId xmlns:r="http://schemas.openxmlformats.org/officeDocument/2006/relationships" id="256" r:id="R71654a08b9d342ff"/>
    <p:sldId xmlns:r="http://schemas.openxmlformats.org/officeDocument/2006/relationships" id="257" r:id="Rab18393b40ce4a5b"/>
    <p:sldId xmlns:r="http://schemas.openxmlformats.org/officeDocument/2006/relationships" id="258" r:id="R0ee37b81184740c8"/>
    <p:sldId xmlns:r="http://schemas.openxmlformats.org/officeDocument/2006/relationships" id="259" r:id="R04aa4cddefb448e0"/>
    <p:sldId xmlns:r="http://schemas.openxmlformats.org/officeDocument/2006/relationships" id="260" r:id="R383dc71c712749f4"/>
    <p:sldId xmlns:r="http://schemas.openxmlformats.org/officeDocument/2006/relationships" id="261" r:id="R14ae8345c5c342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768eecfab84005" /><Relationship Type="http://schemas.openxmlformats.org/officeDocument/2006/relationships/slideMaster" Target="/ppt/slideMasters/slideMaster1.xml" Id="R1336a1e130ed43ce" /><Relationship Type="http://schemas.openxmlformats.org/officeDocument/2006/relationships/notesMaster" Target="/ppt/notesMasters/notesMaster1.xml" Id="R2de7304d92624ab6" /><Relationship Type="http://schemas.openxmlformats.org/officeDocument/2006/relationships/presProps" Target="/ppt/presProps.xml" Id="R7ba3a27800e24628" /><Relationship Type="http://schemas.openxmlformats.org/officeDocument/2006/relationships/tableStyles" Target="/ppt/tableStyles.xml" Id="Ra341ddd507844690" /><Relationship Type="http://schemas.openxmlformats.org/officeDocument/2006/relationships/slide" Target="/ppt/slides/slide1.xml" Id="R71654a08b9d342ff" /><Relationship Type="http://schemas.openxmlformats.org/officeDocument/2006/relationships/slide" Target="/ppt/slides/slide2.xml" Id="Rab18393b40ce4a5b" /><Relationship Type="http://schemas.openxmlformats.org/officeDocument/2006/relationships/slide" Target="/ppt/slides/slide3.xml" Id="R0ee37b81184740c8" /><Relationship Type="http://schemas.openxmlformats.org/officeDocument/2006/relationships/slide" Target="/ppt/slides/slide4.xml" Id="R04aa4cddefb448e0" /><Relationship Type="http://schemas.openxmlformats.org/officeDocument/2006/relationships/slide" Target="/ppt/slides/slide5.xml" Id="R383dc71c712749f4" /><Relationship Type="http://schemas.openxmlformats.org/officeDocument/2006/relationships/slide" Target="/ppt/slides/slide6.xml" Id="R14ae8345c5c342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6877bca82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67453f509b496d" /><Relationship Type="http://schemas.openxmlformats.org/officeDocument/2006/relationships/notesMaster" Target="/ppt/notesMasters/notesMaster1.xml" Id="R54d4c11538a44a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8f06beed754a59" /><Relationship Type="http://schemas.openxmlformats.org/officeDocument/2006/relationships/notesMaster" Target="/ppt/notesMasters/notesMaster1.xml" Id="Rd26b9dddfd38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08baf94e50450b" /><Relationship Type="http://schemas.openxmlformats.org/officeDocument/2006/relationships/notesMaster" Target="/ppt/notesMasters/notesMaster1.xml" Id="R5868a1b39020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fa326a0c704000" /><Relationship Type="http://schemas.openxmlformats.org/officeDocument/2006/relationships/notesMaster" Target="/ppt/notesMasters/notesMaster1.xml" Id="Rea5d972619f243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8473237151497f" /><Relationship Type="http://schemas.openxmlformats.org/officeDocument/2006/relationships/notesMaster" Target="/ppt/notesMasters/notesMaster1.xml" Id="R3e5fc5451d164e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d8cb16c1274ec2" /><Relationship Type="http://schemas.openxmlformats.org/officeDocument/2006/relationships/notesMaster" Target="/ppt/notesMasters/notesMaster1.xml" Id="R8a22b7adabb042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Remit uses Hedera to turn an authorized action into a paid, exact and publicly inspectable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/Users/oisinlyons/Documents/Codex/2026-07-24/okay-so-i-have-a-hackathon/worktrees/remit-main/docs/sponsors/HEDERA.md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agentic AP layer checks the supplier and freezes the exact action first.</a:t>
            </a:r>
          </a:p>
          <a:p xmlns:a="http://schemas.openxmlformats.org/drawingml/2006/main">
            <a:r>
              <a:t>Hedera provides the paid evidence transport, token lifecycle, atomic settlement and public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/Users/oisinlyons/Documents/Codex/2026-07-24/okay-so-i-have-a-hackathon/worktrees/remit-main/README.md</a:t>
            </a:r>
          </a:p>
          <a:p xmlns:a="http://schemas.openxmlformats.org/drawingml/2006/main">
            <a:r>
              <a:t>- /Users/oisinlyons/Documents/Codex/2026-07-24/okay-so-i-have-a-hackathon/worktrees/remit-main/docs/product/PRODUCT-BRIEF.md</a:t>
            </a:r>
          </a:p>
          <a:p xmlns:a="http://schemas.openxmlformats.org/drawingml/2006/main">
            <a:r>
              <a:t>- /Users/oisinlyons/Documents/Codex/2026-07-24/okay-so-i-have-a-hackathon/worktrees/remit-main/docs/sponsors/HEDERA.md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Testnet evidence separates three parties: agent payer, service payee and facilitator fee payer.</a:t>
            </a:r>
          </a:p>
          <a:p xmlns:a="http://schemas.openxmlformats.org/drawingml/2006/main">
            <a:r>
              <a:t>The current verification verdict is a labelled stand-in; the HBAR transport and consensus receipt are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/Users/oisinlyons/Documents/Codex/2026-07-24/okay-so-i-have-a-hackathon/worktrees/remit-main/docs/sponsors/HEDERA.md</a:t>
            </a:r>
          </a:p>
          <a:p xmlns:a="http://schemas.openxmlformats.org/drawingml/2006/main">
            <a:r>
              <a:t>- /Users/oisinlyons/Documents/Codex/2026-07-24/okay-so-i-have-a-hackathon/worktrees/remit-main/docs/evidence/x402-live-2026-07-26.md</a:t>
            </a:r>
          </a:p>
          <a:p xmlns:a="http://schemas.openxmlformats.org/drawingml/2006/main">
            <a:r>
              <a:t>- https://hashscan.io/testnet/transaction/0.0.9758618-1785052376-669100601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RMPAY says which payable and approved claimant are involved. RMCTL is a one-use mechanics control. RMEURT is the synthetic value asset.</a:t>
            </a:r>
          </a:p>
          <a:p xmlns:a="http://schemas.openxmlformats.org/drawingml/2006/main">
            <a:r>
              <a:t>Ownership of RMPAY is not by itself payment authority; the immutable action independently requires the holder to equal the approved beneficiary.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/Users/oisinlyons/Documents/Codex/2026-07-24/okay-so-i-have-a-hackathon/worktrees/remit-main/docs/architecture/decisions/0011-experimental-dual-token-atomic-settlement.md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Atomicity means all five state transitions commit together or the protected effects roll back.</a:t>
            </a:r>
          </a:p>
          <a:p xmlns:a="http://schemas.openxmlformats.org/drawingml/2006/main">
            <a:r>
              <a:t>The failed batch is important evidence, not a rehearsal accident: it proves the network does not leave a paid-but-unconsumed control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  <a:p xmlns:a="http://schemas.openxmlformats.org/drawingml/2006/main">
            <a:r>
              <a:t>- https://testnet.mirrornode.hedera.com/api/v1/transactions/0.0.9708355-1785051992-337954908</a:t>
            </a:r>
          </a:p>
          <a:p xmlns:a="http://schemas.openxmlformats.org/drawingml/2006/main">
            <a:r>
              <a:t>- https://testnet.mirrornode.hedera.com/api/v1/transactions/0.0.9708355-1785052000-077747014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evidence supports the x402 transport, token lifecycle, atomic success and rollback claims.</a:t>
            </a:r>
          </a:p>
          <a:p xmlns:a="http://schemas.openxmlformats.org/drawingml/2006/main">
            <a:r>
              <a:t>It does not prove live World authority, a real beneficiary-verification service, legal invoice assignment or production bank 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/Users/oisinlyons/Documents/Codex/2026-07-24/okay-so-i-have-a-hackathon/worktrees/remit-main/docs/evidence/demo-live-2026-07-26.md</a:t>
            </a:r>
          </a:p>
          <a:p xmlns:a="http://schemas.openxmlformats.org/drawingml/2006/main">
            <a:r>
              <a:t>- /Users/oisinlyons/Documents/Codex/2026-07-24/okay-so-i-have-a-hackathon/worktrees/remit-main/docs/evidence/x402-live-2026-07-26.md</a:t>
            </a:r>
          </a:p>
          <a:p xmlns:a="http://schemas.openxmlformats.org/drawingml/2006/main">
            <a:r>
              <a:t>- /Users/oisinlyons/Documents/Codex/2026-07-24/okay-so-i-have-a-hackathon/worktrees/remit-main/docs/evidence/hedera-dual-token-live-2026-07-26.md</a:t>
            </a:r>
          </a:p>
          <a:p xmlns:a="http://schemas.openxmlformats.org/drawingml/2006/main">
            <a:r>
              <a:t>- https://testnet.mirrornode.hedera.com/api/v1/topics/0.0.9764806/messages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18d418ff94c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a9aaa79f14b24" /><Relationship Type="http://schemas.openxmlformats.org/officeDocument/2006/relationships/slideLayout" Target="/ppt/slideLayouts/slideLayout1.xml" Id="R466f9ef979b0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f9ef979b0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11504292046ae" /><Relationship Type="http://schemas.openxmlformats.org/officeDocument/2006/relationships/notesSlide" Target="/ppt/notesSlides/notesSlide1.xml" Id="R3122076c4d2240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3225b696547a1" /><Relationship Type="http://schemas.openxmlformats.org/officeDocument/2006/relationships/notesSlide" Target="/ppt/notesSlides/notesSlide2.xml" Id="R5990c6b247ce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2c368f1c245b5" /><Relationship Type="http://schemas.openxmlformats.org/officeDocument/2006/relationships/notesSlide" Target="/ppt/notesSlides/notesSlide3.xml" Id="Rc78017f886d149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0073bba284436" /><Relationship Type="http://schemas.openxmlformats.org/officeDocument/2006/relationships/notesSlide" Target="/ppt/notesSlides/notesSlide4.xml" Id="R745f1a27c8634c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712c89d304acd" /><Relationship Type="http://schemas.openxmlformats.org/officeDocument/2006/relationships/notesSlide" Target="/ppt/notesSlides/notesSlide5.xml" Id="R52b4ecd3e936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5797485714b67" /><Relationship Type="http://schemas.openxmlformats.org/officeDocument/2006/relationships/notesSlide" Target="/ppt/notesSlides/notesSlide6.xml" Id="Ra548f47ddd8742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dera-cover-event">
            <a:extLst xmlns:a="http://schemas.openxmlformats.org/drawingml/2006/main">
              <a:ext uri="{FF2B5EF4-FFF2-40B4-BE49-F238E27FC236}">
                <a16:creationId xmlns:a16="http://schemas.microsoft.com/office/drawing/2014/main" id="{893819B4-8BF9-4DB8-BC9C-D49BF8C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381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REMIT · ETHGLOBAL LISBON 2026</a:t>
            </a:r>
          </a:p>
        </p:txBody>
      </p:sp>
      <p:sp>
        <p:nvSpPr>
          <p:cNvPr id="2" name="Hedera-cover-sponsor">
            <a:extLst xmlns:a="http://schemas.openxmlformats.org/drawingml/2006/main">
              <a:ext uri="{FF2B5EF4-FFF2-40B4-BE49-F238E27FC236}">
                <a16:creationId xmlns:a16="http://schemas.microsoft.com/office/drawing/2014/main" id="{0370C814-3CC6-4C2F-8776-DFEF4806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"/>
            <a:ext cx="37052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HEDERA</a:t>
            </a:r>
          </a:p>
        </p:txBody>
      </p:sp>
      <p:sp>
        <p:nvSpPr>
          <p:cNvPr id="3" name="Hedera-cover-accent">
            <a:extLst xmlns:a="http://schemas.openxmlformats.org/drawingml/2006/main">
              <a:ext uri="{FF2B5EF4-FFF2-40B4-BE49-F238E27FC236}">
                <a16:creationId xmlns:a16="http://schemas.microsoft.com/office/drawing/2014/main" id="{7D426C02-2BFE-4759-84B5-34B394D4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62200"/>
            <a:ext cx="13239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dera-cover-title">
            <a:extLst xmlns:a="http://schemas.openxmlformats.org/drawingml/2006/main">
              <a:ext uri="{FF2B5EF4-FFF2-40B4-BE49-F238E27FC236}">
                <a16:creationId xmlns:a16="http://schemas.microsoft.com/office/drawing/2014/main" id="{81A19A32-7F11-4B80-B1EF-BD4146F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00300"/>
            <a:ext cx="1038225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settlement.
Public proof.</a:t>
            </a:r>
          </a:p>
        </p:txBody>
      </p:sp>
    </p:spTree>
    <p:extLst>
      <p:ext uri="{BB962C8B-B14F-4D97-AF65-F5344CB8AC3E}">
        <p14:creationId xmlns:p14="http://schemas.microsoft.com/office/powerpoint/2010/main" val="356725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dera-architecture-title">
            <a:extLst xmlns:a="http://schemas.openxmlformats.org/drawingml/2006/main">
              <a:ext uri="{FF2B5EF4-FFF2-40B4-BE49-F238E27FC236}">
                <a16:creationId xmlns:a16="http://schemas.microsoft.com/office/drawing/2014/main" id="{3AFF4455-E576-4A92-998D-5265540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Hedera takes over after Remit freezes the payment</a:t>
            </a:r>
          </a:p>
        </p:txBody>
      </p:sp>
      <p:sp>
        <p:nvSpPr>
          <p:cNvPr id="2" name="hedera-arch-a1">
            <a:extLst xmlns:a="http://schemas.openxmlformats.org/drawingml/2006/main">
              <a:ext uri="{FF2B5EF4-FFF2-40B4-BE49-F238E27FC236}">
                <a16:creationId xmlns:a16="http://schemas.microsoft.com/office/drawing/2014/main" id="{94B0E693-4265-417C-9ECD-3C914E57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dera-arch-a2">
            <a:extLst xmlns:a="http://schemas.openxmlformats.org/drawingml/2006/main">
              <a:ext uri="{FF2B5EF4-FFF2-40B4-BE49-F238E27FC236}">
                <a16:creationId xmlns:a16="http://schemas.microsoft.com/office/drawing/2014/main" id="{C16BE6A4-E2AE-47FD-BA26-8A97F8F3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09925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dera-arch-a3">
            <a:extLst xmlns:a="http://schemas.openxmlformats.org/drawingml/2006/main">
              <a:ext uri="{FF2B5EF4-FFF2-40B4-BE49-F238E27FC236}">
                <a16:creationId xmlns:a16="http://schemas.microsoft.com/office/drawing/2014/main" id="{272F1DBF-B342-4AC4-85D5-5BDD0877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666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dera-arch-node-0">
            <a:extLst xmlns:a="http://schemas.openxmlformats.org/drawingml/2006/main">
              <a:ext uri="{FF2B5EF4-FFF2-40B4-BE49-F238E27FC236}">
                <a16:creationId xmlns:a16="http://schemas.microsoft.com/office/drawing/2014/main" id="{2EBCC068-B644-460C-90C9-F4D1EFD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2333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dera-arch-label-0">
            <a:extLst xmlns:a="http://schemas.openxmlformats.org/drawingml/2006/main">
              <a:ext uri="{FF2B5EF4-FFF2-40B4-BE49-F238E27FC236}">
                <a16:creationId xmlns:a16="http://schemas.microsoft.com/office/drawing/2014/main" id="{E1F2C089-1040-4993-A87F-FB3FA207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19145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REMIT</a:t>
            </a:r>
          </a:p>
        </p:txBody>
      </p:sp>
      <p:sp>
        <p:nvSpPr>
          <p:cNvPr id="7" name="hedera-arch-heading-0">
            <a:extLst xmlns:a="http://schemas.openxmlformats.org/drawingml/2006/main">
              <a:ext uri="{FF2B5EF4-FFF2-40B4-BE49-F238E27FC236}">
                <a16:creationId xmlns:a16="http://schemas.microsoft.com/office/drawing/2014/main" id="{93323070-0506-4854-AB76-58013929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00375"/>
            <a:ext cx="191452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 and freeze</a:t>
            </a:r>
          </a:p>
        </p:txBody>
      </p:sp>
      <p:sp>
        <p:nvSpPr>
          <p:cNvPr id="8" name="hedera-arch-body-0">
            <a:extLst xmlns:a="http://schemas.openxmlformats.org/drawingml/2006/main">
              <a:ext uri="{FF2B5EF4-FFF2-40B4-BE49-F238E27FC236}">
                <a16:creationId xmlns:a16="http://schemas.microsoft.com/office/drawing/2014/main" id="{53C74E59-1BC6-4B7F-9E52-172A97EB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57625"/>
            <a:ext cx="19145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Supplier, beneficiary, amount and authority become one digest.</a:t>
            </a:r>
          </a:p>
        </p:txBody>
      </p:sp>
      <p:sp>
        <p:nvSpPr>
          <p:cNvPr id="9" name="hedera-arch-node-1">
            <a:extLst xmlns:a="http://schemas.openxmlformats.org/drawingml/2006/main">
              <a:ext uri="{FF2B5EF4-FFF2-40B4-BE49-F238E27FC236}">
                <a16:creationId xmlns:a16="http://schemas.microsoft.com/office/drawing/2014/main" id="{2BFB341A-D433-4017-9115-A2ACE26E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05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dera-arch-label-1">
            <a:extLst xmlns:a="http://schemas.openxmlformats.org/drawingml/2006/main">
              <a:ext uri="{FF2B5EF4-FFF2-40B4-BE49-F238E27FC236}">
                <a16:creationId xmlns:a16="http://schemas.microsoft.com/office/drawing/2014/main" id="{9BE53EF3-543B-4877-A4AB-3B0EDA4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188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HEDERA + x402</a:t>
            </a:r>
          </a:p>
        </p:txBody>
      </p:sp>
      <p:sp>
        <p:nvSpPr>
          <p:cNvPr id="11" name="hedera-arch-heading-1">
            <a:extLst xmlns:a="http://schemas.openxmlformats.org/drawingml/2006/main">
              <a:ext uri="{FF2B5EF4-FFF2-40B4-BE49-F238E27FC236}">
                <a16:creationId xmlns:a16="http://schemas.microsoft.com/office/drawing/2014/main" id="{2EA22516-D69A-4DE7-8AE3-41E8A06C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0375"/>
            <a:ext cx="1885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Buy evidence</a:t>
            </a:r>
          </a:p>
        </p:txBody>
      </p:sp>
      <p:sp>
        <p:nvSpPr>
          <p:cNvPr id="12" name="hedera-arch-body-1">
            <a:extLst xmlns:a="http://schemas.openxmlformats.org/drawingml/2006/main">
              <a:ext uri="{FF2B5EF4-FFF2-40B4-BE49-F238E27FC236}">
                <a16:creationId xmlns:a16="http://schemas.microsoft.com/office/drawing/2014/main" id="{3EA22DCB-6F03-4B3E-9A77-DFFBA7A7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57625"/>
            <a:ext cx="18859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agent pays the verification service and waits for consensus.</a:t>
            </a:r>
          </a:p>
        </p:txBody>
      </p:sp>
      <p:sp>
        <p:nvSpPr>
          <p:cNvPr id="13" name="hedera-arch-node-2">
            <a:extLst xmlns:a="http://schemas.openxmlformats.org/drawingml/2006/main">
              <a:ext uri="{FF2B5EF4-FFF2-40B4-BE49-F238E27FC236}">
                <a16:creationId xmlns:a16="http://schemas.microsoft.com/office/drawing/2014/main" id="{0D4F0066-AD85-4290-A5DB-0657A530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305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edera-arch-label-2">
            <a:extLst xmlns:a="http://schemas.openxmlformats.org/drawingml/2006/main">
              <a:ext uri="{FF2B5EF4-FFF2-40B4-BE49-F238E27FC236}">
                <a16:creationId xmlns:a16="http://schemas.microsoft.com/office/drawing/2014/main" id="{D43D6CED-7486-43EC-BD10-6DE57322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885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HTS + HIP-551</a:t>
            </a:r>
          </a:p>
        </p:txBody>
      </p:sp>
      <p:sp>
        <p:nvSpPr>
          <p:cNvPr id="15" name="hedera-arch-heading-2">
            <a:extLst xmlns:a="http://schemas.openxmlformats.org/drawingml/2006/main">
              <a:ext uri="{FF2B5EF4-FFF2-40B4-BE49-F238E27FC236}">
                <a16:creationId xmlns:a16="http://schemas.microsoft.com/office/drawing/2014/main" id="{6BBAFEC0-FD28-4DBD-983B-71BA9D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1885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Settle exactly</a:t>
            </a:r>
          </a:p>
        </p:txBody>
      </p:sp>
      <p:sp>
        <p:nvSpPr>
          <p:cNvPr id="16" name="hedera-arch-body-2">
            <a:extLst xmlns:a="http://schemas.openxmlformats.org/drawingml/2006/main">
              <a:ext uri="{FF2B5EF4-FFF2-40B4-BE49-F238E27FC236}">
                <a16:creationId xmlns:a16="http://schemas.microsoft.com/office/drawing/2014/main" id="{392A76F6-C44C-4BDA-ACA7-27B5EF2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18859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Value and both token lifecycles commit together.</a:t>
            </a:r>
          </a:p>
        </p:txBody>
      </p:sp>
      <p:sp>
        <p:nvSpPr>
          <p:cNvPr id="17" name="hedera-arch-node-3">
            <a:extLst xmlns:a="http://schemas.openxmlformats.org/drawingml/2006/main">
              <a:ext uri="{FF2B5EF4-FFF2-40B4-BE49-F238E27FC236}">
                <a16:creationId xmlns:a16="http://schemas.microsoft.com/office/drawing/2014/main" id="{8D908C39-E10B-4AC7-999B-7C8E295C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4669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edera-arch-label-3">
            <a:extLst xmlns:a="http://schemas.openxmlformats.org/drawingml/2006/main">
              <a:ext uri="{FF2B5EF4-FFF2-40B4-BE49-F238E27FC236}">
                <a16:creationId xmlns:a16="http://schemas.microsoft.com/office/drawing/2014/main" id="{C8CAFE03-D326-4C84-8DD7-978C87EA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2047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HCS + MIRROR</a:t>
            </a:r>
          </a:p>
        </p:txBody>
      </p:sp>
      <p:sp>
        <p:nvSpPr>
          <p:cNvPr id="19" name="hedera-arch-heading-3">
            <a:extLst xmlns:a="http://schemas.openxmlformats.org/drawingml/2006/main">
              <a:ext uri="{FF2B5EF4-FFF2-40B4-BE49-F238E27FC236}">
                <a16:creationId xmlns:a16="http://schemas.microsoft.com/office/drawing/2014/main" id="{A961B5DD-E468-43E4-ABAC-FB07784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20478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 publicly</a:t>
            </a:r>
          </a:p>
        </p:txBody>
      </p:sp>
      <p:sp>
        <p:nvSpPr>
          <p:cNvPr id="20" name="hedera-arch-body-3">
            <a:extLst xmlns:a="http://schemas.openxmlformats.org/drawingml/2006/main">
              <a:ext uri="{FF2B5EF4-FFF2-40B4-BE49-F238E27FC236}">
                <a16:creationId xmlns:a16="http://schemas.microsoft.com/office/drawing/2014/main" id="{8E853C90-F0C5-48F1-ACE8-3656C7F8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857625"/>
            <a:ext cx="204787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Audit commitments and effects are independently readable.</a:t>
            </a:r>
          </a:p>
        </p:txBody>
      </p:sp>
      <p:sp>
        <p:nvSpPr>
          <p:cNvPr id="21" name="hedera-arch-takeaway">
            <a:extLst xmlns:a="http://schemas.openxmlformats.org/drawingml/2006/main">
              <a:ext uri="{FF2B5EF4-FFF2-40B4-BE49-F238E27FC236}">
                <a16:creationId xmlns:a16="http://schemas.microsoft.com/office/drawing/2014/main" id="{42D613A8-0033-43E6-82E3-7986C2B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14950"/>
            <a:ext cx="10763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Hedera does not decide whether the invoice is truthful; it guarantees that the admitted action is the action executed.</a:t>
            </a:r>
          </a:p>
        </p:txBody>
      </p:sp>
      <p:sp>
        <p:nvSpPr>
          <p:cNvPr id="22" name="page-2">
            <a:extLst xmlns:a="http://schemas.openxmlformats.org/drawingml/2006/main">
              <a:ext uri="{FF2B5EF4-FFF2-40B4-BE49-F238E27FC236}">
                <a16:creationId xmlns:a16="http://schemas.microsoft.com/office/drawing/2014/main" id="{3D5FB461-371A-4811-B035-7CE0695E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5406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dera-x402-title">
            <a:extLst xmlns:a="http://schemas.openxmlformats.org/drawingml/2006/main">
              <a:ext uri="{FF2B5EF4-FFF2-40B4-BE49-F238E27FC236}">
                <a16:creationId xmlns:a16="http://schemas.microsoft.com/office/drawing/2014/main" id="{454020B4-6B63-4EFD-B7DB-6D31A15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x402 makes verification an economic action</a:t>
            </a:r>
          </a:p>
        </p:txBody>
      </p:sp>
      <p:sp>
        <p:nvSpPr>
          <p:cNvPr id="2" name="hedera-x402-payment">
            <a:extLst xmlns:a="http://schemas.openxmlformats.org/drawingml/2006/main">
              <a:ext uri="{FF2B5EF4-FFF2-40B4-BE49-F238E27FC236}">
                <a16:creationId xmlns:a16="http://schemas.microsoft.com/office/drawing/2014/main" id="{CF91E517-0292-4900-BD78-2DDEBA38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57500"/>
            <a:ext cx="609600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dera-x402-result">
            <a:extLst xmlns:a="http://schemas.openxmlformats.org/drawingml/2006/main">
              <a:ext uri="{FF2B5EF4-FFF2-40B4-BE49-F238E27FC236}">
                <a16:creationId xmlns:a16="http://schemas.microsoft.com/office/drawing/2014/main" id="{76BA3586-D81A-4DFE-82F2-A595DA66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095750"/>
            <a:ext cx="6096000" cy="476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dera-x402-facilitator-line">
            <a:extLst xmlns:a="http://schemas.openxmlformats.org/drawingml/2006/main">
              <a:ext uri="{FF2B5EF4-FFF2-40B4-BE49-F238E27FC236}">
                <a16:creationId xmlns:a16="http://schemas.microsoft.com/office/drawing/2014/main" id="{31AE53C7-C2B8-4189-8943-66E8C582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76750"/>
            <a:ext cx="457200" cy="857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dera-x402-agent">
            <a:extLst xmlns:a="http://schemas.openxmlformats.org/drawingml/2006/main">
              <a:ext uri="{FF2B5EF4-FFF2-40B4-BE49-F238E27FC236}">
                <a16:creationId xmlns:a16="http://schemas.microsoft.com/office/drawing/2014/main" id="{FE4A129E-5FE3-494A-919C-EB025A5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0025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dera-x402-service">
            <a:extLst xmlns:a="http://schemas.openxmlformats.org/drawingml/2006/main">
              <a:ext uri="{FF2B5EF4-FFF2-40B4-BE49-F238E27FC236}">
                <a16:creationId xmlns:a16="http://schemas.microsoft.com/office/drawing/2014/main" id="{E0F9A832-F13C-4504-A48F-3676DC20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000250"/>
            <a:ext cx="2647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dera-x402-facilitator">
            <a:extLst xmlns:a="http://schemas.openxmlformats.org/drawingml/2006/main">
              <a:ext uri="{FF2B5EF4-FFF2-40B4-BE49-F238E27FC236}">
                <a16:creationId xmlns:a16="http://schemas.microsoft.com/office/drawing/2014/main" id="{97799066-E556-4AC6-A38A-493BF30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34000"/>
            <a:ext cx="400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hedera-x402-agent-label">
            <a:extLst xmlns:a="http://schemas.openxmlformats.org/drawingml/2006/main">
              <a:ext uri="{FF2B5EF4-FFF2-40B4-BE49-F238E27FC236}">
                <a16:creationId xmlns:a16="http://schemas.microsoft.com/office/drawing/2014/main" id="{AFB3EB7A-8C9E-4AEF-94C8-4101A43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33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</a:t>
            </a:r>
          </a:p>
        </p:txBody>
      </p:sp>
      <p:sp>
        <p:nvSpPr>
          <p:cNvPr id="9" name="hedera-x402-agent-main">
            <a:extLst xmlns:a="http://schemas.openxmlformats.org/drawingml/2006/main">
              <a:ext uri="{FF2B5EF4-FFF2-40B4-BE49-F238E27FC236}">
                <a16:creationId xmlns:a16="http://schemas.microsoft.com/office/drawing/2014/main" id="{AE07604E-B965-4D02-B25F-A1519E93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43225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Pays 0.01 HBAR</a:t>
            </a:r>
          </a:p>
        </p:txBody>
      </p:sp>
      <p:sp>
        <p:nvSpPr>
          <p:cNvPr id="10" name="hedera-x402-agent-body">
            <a:extLst xmlns:a="http://schemas.openxmlformats.org/drawingml/2006/main">
              <a:ext uri="{FF2B5EF4-FFF2-40B4-BE49-F238E27FC236}">
                <a16:creationId xmlns:a16="http://schemas.microsoft.com/office/drawing/2014/main" id="{EBADEB45-5300-4670-BC20-3981853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67125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Buys the beneficiary check</a:t>
            </a:r>
          </a:p>
        </p:txBody>
      </p:sp>
      <p:sp>
        <p:nvSpPr>
          <p:cNvPr id="11" name="hedera-x402-pay-label">
            <a:extLst xmlns:a="http://schemas.openxmlformats.org/drawingml/2006/main">
              <a:ext uri="{FF2B5EF4-FFF2-40B4-BE49-F238E27FC236}">
                <a16:creationId xmlns:a16="http://schemas.microsoft.com/office/drawing/2014/main" id="{8E646ED8-E47B-44E1-8B12-E52B1D03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33625"/>
            <a:ext cx="352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HTTP 402 → signed payment</a:t>
            </a:r>
          </a:p>
        </p:txBody>
      </p:sp>
      <p:sp>
        <p:nvSpPr>
          <p:cNvPr id="12" name="hedera-x402-result-label">
            <a:extLst xmlns:a="http://schemas.openxmlformats.org/drawingml/2006/main">
              <a:ext uri="{FF2B5EF4-FFF2-40B4-BE49-F238E27FC236}">
                <a16:creationId xmlns:a16="http://schemas.microsoft.com/office/drawing/2014/main" id="{2D5EC396-462C-4D22-9899-87445A3A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95825"/>
            <a:ext cx="381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Signed result after consensus</a:t>
            </a:r>
          </a:p>
        </p:txBody>
      </p:sp>
      <p:sp>
        <p:nvSpPr>
          <p:cNvPr id="13" name="hedera-x402-service-label">
            <a:extLst xmlns:a="http://schemas.openxmlformats.org/drawingml/2006/main">
              <a:ext uri="{FF2B5EF4-FFF2-40B4-BE49-F238E27FC236}">
                <a16:creationId xmlns:a16="http://schemas.microsoft.com/office/drawing/2014/main" id="{B09631F7-670A-493C-A960-28C61B34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SERVICE</a:t>
            </a:r>
          </a:p>
        </p:txBody>
      </p:sp>
      <p:sp>
        <p:nvSpPr>
          <p:cNvPr id="14" name="hedera-x402-service-main">
            <a:extLst xmlns:a="http://schemas.openxmlformats.org/drawingml/2006/main">
              <a:ext uri="{FF2B5EF4-FFF2-40B4-BE49-F238E27FC236}">
                <a16:creationId xmlns:a16="http://schemas.microsoft.com/office/drawing/2014/main" id="{A663BF13-393F-42E9-9DAE-B02ADCB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43225"/>
            <a:ext cx="200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Receives 0.01 HBAR</a:t>
            </a:r>
          </a:p>
        </p:txBody>
      </p:sp>
      <p:sp>
        <p:nvSpPr>
          <p:cNvPr id="15" name="hedera-x402-service-body">
            <a:extLst xmlns:a="http://schemas.openxmlformats.org/drawingml/2006/main">
              <a:ext uri="{FF2B5EF4-FFF2-40B4-BE49-F238E27FC236}">
                <a16:creationId xmlns:a16="http://schemas.microsoft.com/office/drawing/2014/main" id="{56DB72FD-BA00-4865-AB2E-81FD8948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3380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Releases the bound result</a:t>
            </a:r>
          </a:p>
        </p:txBody>
      </p:sp>
      <p:sp>
        <p:nvSpPr>
          <p:cNvPr id="16" name="hedera-x402-fac-label">
            <a:extLst xmlns:a="http://schemas.openxmlformats.org/drawingml/2006/main">
              <a:ext uri="{FF2B5EF4-FFF2-40B4-BE49-F238E27FC236}">
                <a16:creationId xmlns:a16="http://schemas.microsoft.com/office/drawing/2014/main" id="{4A7322C8-45C1-4D9C-BB03-BA89F41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054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FACILITATOR</a:t>
            </a:r>
          </a:p>
        </p:txBody>
      </p:sp>
      <p:sp>
        <p:nvSpPr>
          <p:cNvPr id="17" name="hedera-x402-fac-body">
            <a:extLst xmlns:a="http://schemas.openxmlformats.org/drawingml/2006/main">
              <a:ext uri="{FF2B5EF4-FFF2-40B4-BE49-F238E27FC236}">
                <a16:creationId xmlns:a16="http://schemas.microsoft.com/office/drawing/2014/main" id="{7C19FF13-ABBF-45D6-B93F-010C6F52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91200"/>
            <a:ext cx="3333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Verifies, submits and pays the fee</a:t>
            </a:r>
          </a:p>
        </p:txBody>
      </p:sp>
      <p:sp>
        <p:nvSpPr>
          <p:cNvPr id="18" name="page-3">
            <a:extLst xmlns:a="http://schemas.openxmlformats.org/drawingml/2006/main">
              <a:ext uri="{FF2B5EF4-FFF2-40B4-BE49-F238E27FC236}">
                <a16:creationId xmlns:a16="http://schemas.microsoft.com/office/drawing/2014/main" id="{EEE9E4CE-E4BB-4A98-AB90-72B755E5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5101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dera-tokens-title">
            <a:extLst xmlns:a="http://schemas.openxmlformats.org/drawingml/2006/main">
              <a:ext uri="{FF2B5EF4-FFF2-40B4-BE49-F238E27FC236}">
                <a16:creationId xmlns:a16="http://schemas.microsoft.com/office/drawing/2014/main" id="{164EA65B-EF85-4A97-B9BA-DC9BC1A3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Hedera tokens have three different jobs</a:t>
            </a:r>
          </a:p>
        </p:txBody>
      </p:sp>
      <p:sp>
        <p:nvSpPr>
          <p:cNvPr id="2" name="hedera-tokens-h1">
            <a:extLst xmlns:a="http://schemas.openxmlformats.org/drawingml/2006/main">
              <a:ext uri="{FF2B5EF4-FFF2-40B4-BE49-F238E27FC236}">
                <a16:creationId xmlns:a16="http://schemas.microsoft.com/office/drawing/2014/main" id="{776A9D41-2B24-4DCB-866B-59A97A3E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383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TOKEN</a:t>
            </a:r>
          </a:p>
        </p:txBody>
      </p:sp>
      <p:sp>
        <p:nvSpPr>
          <p:cNvPr id="3" name="hedera-tokens-h2">
            <a:extLst xmlns:a="http://schemas.openxmlformats.org/drawingml/2006/main">
              <a:ext uri="{FF2B5EF4-FFF2-40B4-BE49-F238E27FC236}">
                <a16:creationId xmlns:a16="http://schemas.microsoft.com/office/drawing/2014/main" id="{989953E3-007B-4B0B-9BCE-C30C49CF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383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ROLE</a:t>
            </a:r>
          </a:p>
        </p:txBody>
      </p:sp>
      <p:sp>
        <p:nvSpPr>
          <p:cNvPr id="4" name="hedera-tokens-h3">
            <a:extLst xmlns:a="http://schemas.openxmlformats.org/drawingml/2006/main">
              <a:ext uri="{FF2B5EF4-FFF2-40B4-BE49-F238E27FC236}">
                <a16:creationId xmlns:a16="http://schemas.microsoft.com/office/drawing/2014/main" id="{58C83435-258F-4050-B0EF-CC7F939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383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BEFORE</a:t>
            </a:r>
          </a:p>
        </p:txBody>
      </p:sp>
      <p:sp>
        <p:nvSpPr>
          <p:cNvPr id="5" name="hedera-tokens-h4">
            <a:extLst xmlns:a="http://schemas.openxmlformats.org/drawingml/2006/main">
              <a:ext uri="{FF2B5EF4-FFF2-40B4-BE49-F238E27FC236}">
                <a16:creationId xmlns:a16="http://schemas.microsoft.com/office/drawing/2014/main" id="{6515DE38-2493-4C84-863F-A232DF37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AFTER</a:t>
            </a:r>
          </a:p>
        </p:txBody>
      </p:sp>
      <p:sp>
        <p:nvSpPr>
          <p:cNvPr id="6" name="hedera-tokens-head-rule">
            <a:extLst xmlns:a="http://schemas.openxmlformats.org/drawingml/2006/main">
              <a:ext uri="{FF2B5EF4-FFF2-40B4-BE49-F238E27FC236}">
                <a16:creationId xmlns:a16="http://schemas.microsoft.com/office/drawing/2014/main" id="{51E12F57-083E-4BDD-BA88-78D28E5A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dera-token-symbol-0">
            <a:extLst xmlns:a="http://schemas.openxmlformats.org/drawingml/2006/main">
              <a:ext uri="{FF2B5EF4-FFF2-40B4-BE49-F238E27FC236}">
                <a16:creationId xmlns:a16="http://schemas.microsoft.com/office/drawing/2014/main" id="{4AD7E80A-824F-4F7B-A537-C1E07CF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RMPAY</a:t>
            </a:r>
          </a:p>
        </p:txBody>
      </p:sp>
      <p:sp>
        <p:nvSpPr>
          <p:cNvPr id="8" name="hedera-token-meaning-0">
            <a:extLst xmlns:a="http://schemas.openxmlformats.org/drawingml/2006/main">
              <a:ext uri="{FF2B5EF4-FFF2-40B4-BE49-F238E27FC236}">
                <a16:creationId xmlns:a16="http://schemas.microsoft.com/office/drawing/2014/main" id="{B91CD5ED-28DF-4844-AB3E-D3FAC4B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24100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NFT
Payable ticket</a:t>
            </a:r>
          </a:p>
        </p:txBody>
      </p:sp>
      <p:sp>
        <p:nvSpPr>
          <p:cNvPr id="9" name="hedera-token-before-0">
            <a:extLst xmlns:a="http://schemas.openxmlformats.org/drawingml/2006/main">
              <a:ext uri="{FF2B5EF4-FFF2-40B4-BE49-F238E27FC236}">
                <a16:creationId xmlns:a16="http://schemas.microsoft.com/office/drawing/2014/main" id="{02A71012-6EE4-48CA-BDAE-EC4CCF5A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857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Held by claimant
who matches beneficiary</a:t>
            </a:r>
          </a:p>
        </p:txBody>
      </p:sp>
      <p:sp>
        <p:nvSpPr>
          <p:cNvPr id="10" name="hedera-token-after-0">
            <a:extLst xmlns:a="http://schemas.openxmlformats.org/drawingml/2006/main">
              <a:ext uri="{FF2B5EF4-FFF2-40B4-BE49-F238E27FC236}">
                <a16:creationId xmlns:a16="http://schemas.microsoft.com/office/drawing/2014/main" id="{428317E1-B705-4AB0-AA1A-27888332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Returned to treasury
and burned</a:t>
            </a:r>
          </a:p>
        </p:txBody>
      </p:sp>
      <p:sp>
        <p:nvSpPr>
          <p:cNvPr id="11" name="hedera-token-rule-0">
            <a:extLst xmlns:a="http://schemas.openxmlformats.org/drawingml/2006/main">
              <a:ext uri="{FF2B5EF4-FFF2-40B4-BE49-F238E27FC236}">
                <a16:creationId xmlns:a16="http://schemas.microsoft.com/office/drawing/2014/main" id="{7E8B4748-109E-4B6E-B51A-4893FA4F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908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dera-token-symbol-1">
            <a:extLst xmlns:a="http://schemas.openxmlformats.org/drawingml/2006/main">
              <a:ext uri="{FF2B5EF4-FFF2-40B4-BE49-F238E27FC236}">
                <a16:creationId xmlns:a16="http://schemas.microsoft.com/office/drawing/2014/main" id="{AFAABB31-49BB-40BB-80C4-914C845B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RMCTL</a:t>
            </a:r>
          </a:p>
        </p:txBody>
      </p:sp>
      <p:sp>
        <p:nvSpPr>
          <p:cNvPr id="13" name="hedera-token-meaning-1">
            <a:extLst xmlns:a="http://schemas.openxmlformats.org/drawingml/2006/main">
              <a:ext uri="{FF2B5EF4-FFF2-40B4-BE49-F238E27FC236}">
                <a16:creationId xmlns:a16="http://schemas.microsoft.com/office/drawing/2014/main" id="{DEAEC89F-1E2F-4E01-9DF6-B25FCF82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90900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Unique NFT
One-use control</a:t>
            </a:r>
          </a:p>
        </p:txBody>
      </p:sp>
      <p:sp>
        <p:nvSpPr>
          <p:cNvPr id="14" name="hedera-token-before-1">
            <a:extLst xmlns:a="http://schemas.openxmlformats.org/drawingml/2006/main">
              <a:ext uri="{FF2B5EF4-FFF2-40B4-BE49-F238E27FC236}">
                <a16:creationId xmlns:a16="http://schemas.microsoft.com/office/drawing/2014/main" id="{A27A5AE3-9815-485A-B4D8-ED3633AE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2857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control account
KYC granted · frozen</a:t>
            </a:r>
          </a:p>
        </p:txBody>
      </p:sp>
      <p:sp>
        <p:nvSpPr>
          <p:cNvPr id="15" name="hedera-token-after-1">
            <a:extLst xmlns:a="http://schemas.openxmlformats.org/drawingml/2006/main">
              <a:ext uri="{FF2B5EF4-FFF2-40B4-BE49-F238E27FC236}">
                <a16:creationId xmlns:a16="http://schemas.microsoft.com/office/drawing/2014/main" id="{FDE7729F-7107-42C6-BB61-C5BD0E9F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Unfrozen, returned
and burned</a:t>
            </a:r>
          </a:p>
        </p:txBody>
      </p:sp>
      <p:sp>
        <p:nvSpPr>
          <p:cNvPr id="16" name="hedera-token-rule-1">
            <a:extLst xmlns:a="http://schemas.openxmlformats.org/drawingml/2006/main">
              <a:ext uri="{FF2B5EF4-FFF2-40B4-BE49-F238E27FC236}">
                <a16:creationId xmlns:a16="http://schemas.microsoft.com/office/drawing/2014/main" id="{838E688A-CE74-48A1-8323-A6165188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576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edera-token-symbol-2">
            <a:extLst xmlns:a="http://schemas.openxmlformats.org/drawingml/2006/main">
              <a:ext uri="{FF2B5EF4-FFF2-40B4-BE49-F238E27FC236}">
                <a16:creationId xmlns:a16="http://schemas.microsoft.com/office/drawing/2014/main" id="{FB9BD009-5EA0-4534-8D22-34AF879D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RMEURT</a:t>
            </a:r>
          </a:p>
        </p:txBody>
      </p:sp>
      <p:sp>
        <p:nvSpPr>
          <p:cNvPr id="18" name="hedera-token-meaning-2">
            <a:extLst xmlns:a="http://schemas.openxmlformats.org/drawingml/2006/main">
              <a:ext uri="{FF2B5EF4-FFF2-40B4-BE49-F238E27FC236}">
                <a16:creationId xmlns:a16="http://schemas.microsoft.com/office/drawing/2014/main" id="{7A61E035-7AAE-4AF4-8968-6E72995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57700"/>
            <a:ext cx="209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Fungible token
2-decimal test asset</a:t>
            </a:r>
          </a:p>
        </p:txBody>
      </p:sp>
      <p:sp>
        <p:nvSpPr>
          <p:cNvPr id="19" name="hedera-token-before-2">
            <a:extLst xmlns:a="http://schemas.openxmlformats.org/drawingml/2006/main">
              <a:ext uri="{FF2B5EF4-FFF2-40B4-BE49-F238E27FC236}">
                <a16:creationId xmlns:a16="http://schemas.microsoft.com/office/drawing/2014/main" id="{AF6C000F-C39B-4FF6-9EA0-227A308F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7700"/>
            <a:ext cx="2857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Payer / treasury holds
48,000 sealed atoms</a:t>
            </a:r>
          </a:p>
        </p:txBody>
      </p:sp>
      <p:sp>
        <p:nvSpPr>
          <p:cNvPr id="20" name="hedera-token-after-2">
            <a:extLst xmlns:a="http://schemas.openxmlformats.org/drawingml/2006/main">
              <a:ext uri="{FF2B5EF4-FFF2-40B4-BE49-F238E27FC236}">
                <a16:creationId xmlns:a16="http://schemas.microsoft.com/office/drawing/2014/main" id="{3A8B7203-C77F-4A22-A66B-7BD02ECC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Claimant receives
all 48,000 atoms</a:t>
            </a:r>
          </a:p>
        </p:txBody>
      </p:sp>
      <p:sp>
        <p:nvSpPr>
          <p:cNvPr id="21" name="hedera-token-rule-2">
            <a:extLst xmlns:a="http://schemas.openxmlformats.org/drawingml/2006/main">
              <a:ext uri="{FF2B5EF4-FFF2-40B4-BE49-F238E27FC236}">
                <a16:creationId xmlns:a16="http://schemas.microsoft.com/office/drawing/2014/main" id="{7A58DB77-E9DD-4122-95D5-DE511F79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24475"/>
            <a:ext cx="11410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edera-token-takeaway">
            <a:extLst xmlns:a="http://schemas.openxmlformats.org/drawingml/2006/main">
              <a:ext uri="{FF2B5EF4-FFF2-40B4-BE49-F238E27FC236}">
                <a16:creationId xmlns:a16="http://schemas.microsoft.com/office/drawing/2014/main" id="{593242E4-A052-4C6E-8C4B-A3E588EB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invoice remains off-chain. The NFTs carry commitments—not raw supplier or invoice data.</a:t>
            </a:r>
          </a:p>
        </p:txBody>
      </p:sp>
      <p:sp>
        <p:nvSpPr>
          <p:cNvPr id="23" name="page-4">
            <a:extLst xmlns:a="http://schemas.openxmlformats.org/drawingml/2006/main">
              <a:ext uri="{FF2B5EF4-FFF2-40B4-BE49-F238E27FC236}">
                <a16:creationId xmlns:a16="http://schemas.microsoft.com/office/drawing/2014/main" id="{5D172FD3-97A6-4865-9761-754C8F3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178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hedera-atomic-title">
            <a:extLst xmlns:a="http://schemas.openxmlformats.org/drawingml/2006/main">
              <a:ext uri="{FF2B5EF4-FFF2-40B4-BE49-F238E27FC236}">
                <a16:creationId xmlns:a16="http://schemas.microsoft.com/office/drawing/2014/main" id="{6957A3BD-270B-4952-9E21-D7C646D5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Atomicity prevents a half-settled payment</a:t>
            </a:r>
          </a:p>
        </p:txBody>
      </p:sp>
      <p:sp>
        <p:nvSpPr>
          <p:cNvPr id="2" name="hedera-atomic-accent">
            <a:extLst xmlns:a="http://schemas.openxmlformats.org/drawingml/2006/main">
              <a:ext uri="{FF2B5EF4-FFF2-40B4-BE49-F238E27FC236}">
                <a16:creationId xmlns:a16="http://schemas.microsoft.com/office/drawing/2014/main" id="{8C00806D-0038-479A-80D8-F3D9F2D3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7160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dera-atomic-fail-label">
            <a:extLst xmlns:a="http://schemas.openxmlformats.org/drawingml/2006/main">
              <a:ext uri="{FF2B5EF4-FFF2-40B4-BE49-F238E27FC236}">
                <a16:creationId xmlns:a16="http://schemas.microsoft.com/office/drawing/2014/main" id="{E895E699-27F0-4437-886B-411FBE47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288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FAILED BATCH</a:t>
            </a:r>
          </a:p>
        </p:txBody>
      </p:sp>
      <p:sp>
        <p:nvSpPr>
          <p:cNvPr id="4" name="hedera-atomic-fail-heading">
            <a:extLst xmlns:a="http://schemas.openxmlformats.org/drawingml/2006/main">
              <a:ext uri="{FF2B5EF4-FFF2-40B4-BE49-F238E27FC236}">
                <a16:creationId xmlns:a16="http://schemas.microsoft.com/office/drawing/2014/main" id="{991DB5D3-101D-49C0-9826-A257D1EB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4762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Deliberately invalid
Control burn</a:t>
            </a:r>
          </a:p>
        </p:txBody>
      </p:sp>
      <p:sp>
        <p:nvSpPr>
          <p:cNvPr id="5" name="hedera-atomic-fail-sequence">
            <a:extLst xmlns:a="http://schemas.openxmlformats.org/drawingml/2006/main">
              <a:ext uri="{FF2B5EF4-FFF2-40B4-BE49-F238E27FC236}">
                <a16:creationId xmlns:a16="http://schemas.microsoft.com/office/drawing/2014/main" id="{61EC9D48-2510-4465-8EF8-74E24346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5095875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1  Control unfreeze        REVERTED_SUCCESS
2  Transfer + NFT return   REVERTED_SUCCESS
3  Payable burn             REVERTED_SUCCESS
4  Control burn             INVALID_NFT_ID
5  HCS commitment           NEVER EXECUTED</a:t>
            </a:r>
          </a:p>
        </p:txBody>
      </p:sp>
      <p:sp>
        <p:nvSpPr>
          <p:cNvPr id="6" name="hedera-atomic-fail-result">
            <a:extLst xmlns:a="http://schemas.openxmlformats.org/drawingml/2006/main">
              <a:ext uri="{FF2B5EF4-FFF2-40B4-BE49-F238E27FC236}">
                <a16:creationId xmlns:a16="http://schemas.microsoft.com/office/drawing/2014/main" id="{98DE0ED1-F6DB-4D25-84D0-9104800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Ledger state stayed unchanged.</a:t>
            </a:r>
          </a:p>
        </p:txBody>
      </p:sp>
      <p:sp>
        <p:nvSpPr>
          <p:cNvPr id="7" name="hedera-atomic-divider">
            <a:extLst xmlns:a="http://schemas.openxmlformats.org/drawingml/2006/main">
              <a:ext uri="{FF2B5EF4-FFF2-40B4-BE49-F238E27FC236}">
                <a16:creationId xmlns:a16="http://schemas.microsoft.com/office/drawing/2014/main" id="{7FEBF1E5-3503-4E72-A599-83E22054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8288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dera-atomic-success-label">
            <a:extLst xmlns:a="http://schemas.openxmlformats.org/drawingml/2006/main">
              <a:ext uri="{FF2B5EF4-FFF2-40B4-BE49-F238E27FC236}">
                <a16:creationId xmlns:a16="http://schemas.microsoft.com/office/drawing/2014/main" id="{C19CA08C-A70F-4155-BE30-C344FF5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288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SUCCESSFUL BATCH</a:t>
            </a:r>
          </a:p>
        </p:txBody>
      </p:sp>
      <p:sp>
        <p:nvSpPr>
          <p:cNvPr id="9" name="hedera-atomic-success-heading">
            <a:extLst xmlns:a="http://schemas.openxmlformats.org/drawingml/2006/main">
              <a:ext uri="{FF2B5EF4-FFF2-40B4-BE49-F238E27FC236}">
                <a16:creationId xmlns:a16="http://schemas.microsoft.com/office/drawing/2014/main" id="{0ED56DE8-9543-4B6C-9279-FB2449F6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43150"/>
            <a:ext cx="4762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settlement
committed once</a:t>
            </a:r>
          </a:p>
        </p:txBody>
      </p:sp>
      <p:sp>
        <p:nvSpPr>
          <p:cNvPr id="10" name="hedera-atomic-success-sequence">
            <a:extLst xmlns:a="http://schemas.openxmlformats.org/drawingml/2006/main">
              <a:ext uri="{FF2B5EF4-FFF2-40B4-BE49-F238E27FC236}">
                <a16:creationId xmlns:a16="http://schemas.microsoft.com/office/drawing/2014/main" id="{C83C8C30-91F3-4CEA-814F-AB2D0AA0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48050"/>
            <a:ext cx="51435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1  Control unfreeze        SUCCESS
2  48,000-atom transfer     SUCCESS
3  Payable NFT burn         SUCCESS
4  Control NFT burn         SUCCESS
5  HCS commitment           SUCCESS</a:t>
            </a:r>
          </a:p>
        </p:txBody>
      </p:sp>
      <p:sp>
        <p:nvSpPr>
          <p:cNvPr id="11" name="hedera-atomic-success-result">
            <a:extLst xmlns:a="http://schemas.openxmlformats.org/drawingml/2006/main">
              <a:ext uri="{FF2B5EF4-FFF2-40B4-BE49-F238E27FC236}">
                <a16:creationId xmlns:a16="http://schemas.microsoft.com/office/drawing/2014/main" id="{E9498380-B73F-4AF1-8F07-94384AF2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2197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No half-settled state can survive.</a:t>
            </a:r>
          </a:p>
        </p:txBody>
      </p:sp>
      <p:sp>
        <p:nvSpPr>
          <p:cNvPr id="12" name="hedera-atomic-boundary">
            <a:extLst xmlns:a="http://schemas.openxmlformats.org/drawingml/2006/main">
              <a:ext uri="{FF2B5EF4-FFF2-40B4-BE49-F238E27FC236}">
                <a16:creationId xmlns:a16="http://schemas.microsoft.com/office/drawing/2014/main" id="{18D54277-961C-408D-8E6F-330DDFFD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1038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Processed fees may still be charged on failure; the protected settlement effects are what roll back.</a:t>
            </a:r>
          </a:p>
        </p:txBody>
      </p:sp>
      <p:sp>
        <p:nvSpPr>
          <p:cNvPr id="13" name="page-5">
            <a:extLst xmlns:a="http://schemas.openxmlformats.org/drawingml/2006/main">
              <a:ext uri="{FF2B5EF4-FFF2-40B4-BE49-F238E27FC236}">
                <a16:creationId xmlns:a16="http://schemas.microsoft.com/office/drawing/2014/main" id="{1624D149-5451-438A-9792-61F33801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2091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dera-close-title">
            <a:extLst xmlns:a="http://schemas.openxmlformats.org/drawingml/2006/main">
              <a:ext uri="{FF2B5EF4-FFF2-40B4-BE49-F238E27FC236}">
                <a16:creationId xmlns:a16="http://schemas.microsoft.com/office/drawing/2014/main" id="{6FC2F786-09DD-421B-9C5E-07C7F1C7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Hedera claims are publicly reproducible</a:t>
            </a:r>
          </a:p>
        </p:txBody>
      </p:sp>
      <p:sp>
        <p:nvSpPr>
          <p:cNvPr id="2" name="hedera-close-intro">
            <a:extLst xmlns:a="http://schemas.openxmlformats.org/drawingml/2006/main">
              <a:ext uri="{FF2B5EF4-FFF2-40B4-BE49-F238E27FC236}">
                <a16:creationId xmlns:a16="http://schemas.microsoft.com/office/drawing/2014/main" id="{4012C9FE-12A3-4659-822A-DC2C1965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19200"/>
            <a:ext cx="1066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public transaction, token and topic records—not our application logs—as the proof.</a:t>
            </a:r>
          </a:p>
        </p:txBody>
      </p:sp>
      <p:sp>
        <p:nvSpPr>
          <p:cNvPr id="3" name="hedera-close-panel-0">
            <a:extLst xmlns:a="http://schemas.openxmlformats.org/drawingml/2006/main">
              <a:ext uri="{FF2B5EF4-FFF2-40B4-BE49-F238E27FC236}">
                <a16:creationId xmlns:a16="http://schemas.microsoft.com/office/drawing/2014/main" id="{AA362737-42FA-4014-9B0C-F9D8EC7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241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dera-close-stat-0">
            <a:extLst xmlns:a="http://schemas.openxmlformats.org/drawingml/2006/main">
              <a:ext uri="{FF2B5EF4-FFF2-40B4-BE49-F238E27FC236}">
                <a16:creationId xmlns:a16="http://schemas.microsoft.com/office/drawing/2014/main" id="{5D7C5923-7E34-45D1-96B8-EED107B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051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0.01 HBAR</a:t>
            </a:r>
          </a:p>
        </p:txBody>
      </p:sp>
      <p:sp>
        <p:nvSpPr>
          <p:cNvPr id="5" name="hedera-close-heading-0">
            <a:extLst xmlns:a="http://schemas.openxmlformats.org/drawingml/2006/main">
              <a:ext uri="{FF2B5EF4-FFF2-40B4-BE49-F238E27FC236}">
                <a16:creationId xmlns:a16="http://schemas.microsoft.com/office/drawing/2014/main" id="{A096F384-A405-45C2-AB7C-FB18A02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910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x402 payment</a:t>
            </a:r>
          </a:p>
        </p:txBody>
      </p:sp>
      <p:sp>
        <p:nvSpPr>
          <p:cNvPr id="6" name="hedera-close-body-0">
            <a:extLst xmlns:a="http://schemas.openxmlformats.org/drawingml/2006/main">
              <a:ext uri="{FF2B5EF4-FFF2-40B4-BE49-F238E27FC236}">
                <a16:creationId xmlns:a16="http://schemas.microsoft.com/office/drawing/2014/main" id="{EEA36BC1-8292-4613-885B-2925294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19650"/>
            <a:ext cx="2905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Agent paid service; facilitator paid the network fee.</a:t>
            </a:r>
          </a:p>
        </p:txBody>
      </p:sp>
      <p:sp>
        <p:nvSpPr>
          <p:cNvPr id="7" name="hedera-close-panel-1">
            <a:extLst xmlns:a="http://schemas.openxmlformats.org/drawingml/2006/main">
              <a:ext uri="{FF2B5EF4-FFF2-40B4-BE49-F238E27FC236}">
                <a16:creationId xmlns:a16="http://schemas.microsoft.com/office/drawing/2014/main" id="{4A91D835-74AB-4F10-8FC2-28815CED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241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dera-close-stat-1">
            <a:extLst xmlns:a="http://schemas.openxmlformats.org/drawingml/2006/main">
              <a:ext uri="{FF2B5EF4-FFF2-40B4-BE49-F238E27FC236}">
                <a16:creationId xmlns:a16="http://schemas.microsoft.com/office/drawing/2014/main" id="{2D54116F-94AE-4E96-B418-7E6526AF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051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 txns</a:t>
            </a:r>
          </a:p>
        </p:txBody>
      </p:sp>
      <p:sp>
        <p:nvSpPr>
          <p:cNvPr id="9" name="hedera-close-heading-1">
            <a:extLst xmlns:a="http://schemas.openxmlformats.org/drawingml/2006/main">
              <a:ext uri="{FF2B5EF4-FFF2-40B4-BE49-F238E27FC236}">
                <a16:creationId xmlns:a16="http://schemas.microsoft.com/office/drawing/2014/main" id="{17DFBEA5-71A5-4F7E-9428-BE3B246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910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atomic success</a:t>
            </a:r>
          </a:p>
        </p:txBody>
      </p:sp>
      <p:sp>
        <p:nvSpPr>
          <p:cNvPr id="10" name="hedera-close-body-1">
            <a:extLst xmlns:a="http://schemas.openxmlformats.org/drawingml/2006/main">
              <a:ext uri="{FF2B5EF4-FFF2-40B4-BE49-F238E27FC236}">
                <a16:creationId xmlns:a16="http://schemas.microsoft.com/office/drawing/2014/main" id="{B2487E4E-6EF2-473E-820F-9244E92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19650"/>
            <a:ext cx="2905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Exact transfer, two NFT burns and one HCS commitment.</a:t>
            </a:r>
          </a:p>
        </p:txBody>
      </p:sp>
      <p:sp>
        <p:nvSpPr>
          <p:cNvPr id="11" name="hedera-close-panel-2">
            <a:extLst xmlns:a="http://schemas.openxmlformats.org/drawingml/2006/main">
              <a:ext uri="{FF2B5EF4-FFF2-40B4-BE49-F238E27FC236}">
                <a16:creationId xmlns:a16="http://schemas.microsoft.com/office/drawing/2014/main" id="{43030E1C-2EC9-4529-984E-E7092DC1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24150"/>
            <a:ext cx="3562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edera-close-stat-2">
            <a:extLst xmlns:a="http://schemas.openxmlformats.org/drawingml/2006/main">
              <a:ext uri="{FF2B5EF4-FFF2-40B4-BE49-F238E27FC236}">
                <a16:creationId xmlns:a16="http://schemas.microsoft.com/office/drawing/2014/main" id="{19516F2D-A063-41DA-8769-CF1FB42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ROLLBACK</a:t>
            </a:r>
          </a:p>
        </p:txBody>
      </p:sp>
      <p:sp>
        <p:nvSpPr>
          <p:cNvPr id="13" name="hedera-close-heading-2">
            <a:extLst xmlns:a="http://schemas.openxmlformats.org/drawingml/2006/main">
              <a:ext uri="{FF2B5EF4-FFF2-40B4-BE49-F238E27FC236}">
                <a16:creationId xmlns:a16="http://schemas.microsoft.com/office/drawing/2014/main" id="{40B846C4-A19B-435B-B4A3-CF9BC0DD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negative proof</a:t>
            </a:r>
          </a:p>
        </p:txBody>
      </p:sp>
      <p:sp>
        <p:nvSpPr>
          <p:cNvPr id="14" name="hedera-close-body-2">
            <a:extLst xmlns:a="http://schemas.openxmlformats.org/drawingml/2006/main">
              <a:ext uri="{FF2B5EF4-FFF2-40B4-BE49-F238E27FC236}">
                <a16:creationId xmlns:a16="http://schemas.microsoft.com/office/drawing/2014/main" id="{FFF37D4B-48F3-4628-91A7-EF859E0F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19650"/>
            <a:ext cx="29051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Helvetica Neue"/>
                <a:ea typeface="Helvetica Neue"/>
                <a:cs typeface="Helvetica Neue"/>
              </a:defRPr>
            </a:pPr>
            <a:r>
              <a:t>The malformed batch left claimant, NFT and HCS state unchanged.</a:t>
            </a:r>
          </a:p>
        </p:txBody>
      </p:sp>
      <p:sp>
        <p:nvSpPr>
          <p:cNvPr id="15" name="hedera-close-boundary">
            <a:extLst xmlns:a="http://schemas.openxmlformats.org/drawingml/2006/main">
              <a:ext uri="{FF2B5EF4-FFF2-40B4-BE49-F238E27FC236}">
                <a16:creationId xmlns:a16="http://schemas.microsoft.com/office/drawing/2014/main" id="{E7DEB0E6-7089-4F55-B756-3AE5E676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Real Testnet mechanics · synthetic no-value assets · not production supplier settlement</a:t>
            </a:r>
          </a:p>
        </p:txBody>
      </p:sp>
      <p:sp>
        <p:nvSpPr>
          <p:cNvPr id="16" name="page-6">
            <a:extLst xmlns:a="http://schemas.openxmlformats.org/drawingml/2006/main">
              <a:ext uri="{FF2B5EF4-FFF2-40B4-BE49-F238E27FC236}">
                <a16:creationId xmlns:a16="http://schemas.microsoft.com/office/drawing/2014/main" id="{F07DA25F-CEDA-4D26-B213-10864C8F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1917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2026-07-26T08:57:07.7130000Z</dcterms:created>
  <dcterms:modified xsi:type="dcterms:W3CDTF">2026-07-26T08:57:07.7130000Z</dcterms:modified>
</coreProperties>
</file>