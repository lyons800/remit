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1aff2d6cacd4ec1" /><Relationship Type="http://schemas.openxmlformats.org/officeDocument/2006/relationships/extended-properties" Target="/docProps/app.xml" Id="R8ffb756f95a044c3" /><Relationship Type="http://schemas.openxmlformats.org/officeDocument/2006/relationships/officeDocument" Target="/ppt/presentation.xml" Id="Rc1cd7c399fed40d6" /></Relationships>
</file>

<file path=ppt/presentation.xml><?xml version="1.0" encoding="utf-8"?>
<p:presentation xmlns:p="http://schemas.openxmlformats.org/presentationml/2006/main">
  <p:sldMasterIdLst>
    <p:sldMasterId xmlns:r="http://schemas.openxmlformats.org/officeDocument/2006/relationships" id="2147483648" r:id="Rad8bcc706a12448c"/>
  </p:sldMasterIdLst>
  <p:notesMasterIdLst>
    <p:notesMasterId xmlns:r="http://schemas.openxmlformats.org/officeDocument/2006/relationships" r:id="R88d1b5971115479b"/>
  </p:notesMasterIdLst>
  <p:sldIdLst>
    <p:sldId xmlns:r="http://schemas.openxmlformats.org/officeDocument/2006/relationships" id="256" r:id="R2eb16068a95d49e4"/>
    <p:sldId xmlns:r="http://schemas.openxmlformats.org/officeDocument/2006/relationships" id="257" r:id="Rafaf25bc9e5e4276"/>
    <p:sldId xmlns:r="http://schemas.openxmlformats.org/officeDocument/2006/relationships" id="258" r:id="Rf22c6fee16c1490c"/>
    <p:sldId xmlns:r="http://schemas.openxmlformats.org/officeDocument/2006/relationships" id="259" r:id="Rb5086fa0432e4e70"/>
    <p:sldId xmlns:r="http://schemas.openxmlformats.org/officeDocument/2006/relationships" id="260" r:id="Rafde65b75ad94401"/>
    <p:sldId xmlns:r="http://schemas.openxmlformats.org/officeDocument/2006/relationships" id="261" r:id="R536826426eed45ad"/>
    <p:sldId xmlns:r="http://schemas.openxmlformats.org/officeDocument/2006/relationships" id="262" r:id="Rdd073ffc67dc4721"/>
    <p:sldId xmlns:r="http://schemas.openxmlformats.org/officeDocument/2006/relationships" id="263" r:id="R8def5acb2abb4dd4"/>
    <p:sldId xmlns:r="http://schemas.openxmlformats.org/officeDocument/2006/relationships" id="264" r:id="Re65d1756a17a4b8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e0810825dc417a" /><Relationship Type="http://schemas.openxmlformats.org/officeDocument/2006/relationships/slideMaster" Target="/ppt/slideMasters/slideMaster1.xml" Id="Rad8bcc706a12448c" /><Relationship Type="http://schemas.openxmlformats.org/officeDocument/2006/relationships/notesMaster" Target="/ppt/notesMasters/notesMaster1.xml" Id="R88d1b5971115479b" /><Relationship Type="http://schemas.openxmlformats.org/officeDocument/2006/relationships/presProps" Target="/ppt/presProps.xml" Id="R6146d9c277b04a85" /><Relationship Type="http://schemas.openxmlformats.org/officeDocument/2006/relationships/tableStyles" Target="/ppt/tableStyles.xml" Id="R09c8144209344008" /><Relationship Type="http://schemas.openxmlformats.org/officeDocument/2006/relationships/slide" Target="/ppt/slides/slide1.xml" Id="R2eb16068a95d49e4" /><Relationship Type="http://schemas.openxmlformats.org/officeDocument/2006/relationships/slide" Target="/ppt/slides/slide2.xml" Id="Rafaf25bc9e5e4276" /><Relationship Type="http://schemas.openxmlformats.org/officeDocument/2006/relationships/slide" Target="/ppt/slides/slide3.xml" Id="Rf22c6fee16c1490c" /><Relationship Type="http://schemas.openxmlformats.org/officeDocument/2006/relationships/slide" Target="/ppt/slides/slide4.xml" Id="Rb5086fa0432e4e70" /><Relationship Type="http://schemas.openxmlformats.org/officeDocument/2006/relationships/slide" Target="/ppt/slides/slide5.xml" Id="Rafde65b75ad94401" /><Relationship Type="http://schemas.openxmlformats.org/officeDocument/2006/relationships/slide" Target="/ppt/slides/slide6.xml" Id="R536826426eed45ad" /><Relationship Type="http://schemas.openxmlformats.org/officeDocument/2006/relationships/slide" Target="/ppt/slides/slide7.xml" Id="Rdd073ffc67dc4721" /><Relationship Type="http://schemas.openxmlformats.org/officeDocument/2006/relationships/slide" Target="/ppt/slides/slide8.xml" Id="R8def5acb2abb4dd4" /><Relationship Type="http://schemas.openxmlformats.org/officeDocument/2006/relationships/slide" Target="/ppt/slides/slide9.xml" Id="Re65d1756a17a4b8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91e368bf89141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96c14b67feb45dc" /><Relationship Type="http://schemas.openxmlformats.org/officeDocument/2006/relationships/notesMaster" Target="/ppt/notesMasters/notesMaster1.xml" Id="Rc405788a335446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bb7cc7ed7247e3" /><Relationship Type="http://schemas.openxmlformats.org/officeDocument/2006/relationships/notesMaster" Target="/ppt/notesMasters/notesMaster1.xml" Id="R0bf981141c3e4b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6f37310ba940f1" /><Relationship Type="http://schemas.openxmlformats.org/officeDocument/2006/relationships/notesMaster" Target="/ppt/notesMasters/notesMaster1.xml" Id="Ref75efd3e31446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4f000bd6624211" /><Relationship Type="http://schemas.openxmlformats.org/officeDocument/2006/relationships/notesMaster" Target="/ppt/notesMasters/notesMaster1.xml" Id="R927a9566eaba46b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79161270504451f" /><Relationship Type="http://schemas.openxmlformats.org/officeDocument/2006/relationships/notesMaster" Target="/ppt/notesMasters/notesMaster1.xml" Id="Rb00b708388334c29" /></Relationships>
</file>

<file path=ppt/notesSlides/_rels/notesSlide6.xml.rels>&#65279;<?xml version="1.0" encoding="utf-8"?><Relationships xmlns="http://schemas.openxmlformats.org/package/2006/relationships"><Relationship Type="http://schemas.openxmlformats.org/officeDocument/2006/relationships/slide" Target="/ppt/slides/slide6.xml" Id="R6707f1718ef64969" /><Relationship Type="http://schemas.openxmlformats.org/officeDocument/2006/relationships/notesMaster" Target="/ppt/notesMasters/notesMaster1.xml" Id="R820d41c350e24264" /></Relationships>
</file>

<file path=ppt/notesSlides/_rels/notesSlide7.xml.rels>&#65279;<?xml version="1.0" encoding="utf-8"?><Relationships xmlns="http://schemas.openxmlformats.org/package/2006/relationships"><Relationship Type="http://schemas.openxmlformats.org/officeDocument/2006/relationships/slide" Target="/ppt/slides/slide7.xml" Id="R50ac42c969de4578" /><Relationship Type="http://schemas.openxmlformats.org/officeDocument/2006/relationships/notesMaster" Target="/ppt/notesMasters/notesMaster1.xml" Id="Rdce62afc4be646c1" /></Relationships>
</file>

<file path=ppt/notesSlides/_rels/notesSlide8.xml.rels>&#65279;<?xml version="1.0" encoding="utf-8"?><Relationships xmlns="http://schemas.openxmlformats.org/package/2006/relationships"><Relationship Type="http://schemas.openxmlformats.org/officeDocument/2006/relationships/slide" Target="/ppt/slides/slide8.xml" Id="R4868e73849234a6d" /><Relationship Type="http://schemas.openxmlformats.org/officeDocument/2006/relationships/notesMaster" Target="/ppt/notesMasters/notesMaster1.xml" Id="Ra9c34618e3fe4a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df15a6225b3e493c" /><Relationship Type="http://schemas.openxmlformats.org/officeDocument/2006/relationships/notesMaster" Target="/ppt/notesMasters/notesMaster1.xml" Id="R7a0838652bff4d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one-line promise: routine supplier invoices can be handled by agents, while risky changes stop before money moves.</a:t>
            </a:r>
          </a:p>
          <a:p xmlns:a="http://schemas.openxmlformats.org/drawingml/2006/main">
            <a:r>
              <a:t/>
            </a:r>
          </a:p>
          <a:p xmlns:a="http://schemas.openxmlformats.org/drawingml/2006/main">
            <a:r>
              <a:t>[Sources]</a:t>
            </a:r>
          </a:p>
          <a:p xmlns:a="http://schemas.openxmlformats.org/drawingml/2006/main">
            <a:r>
              <a:t>- https://remithq.xyz</a:t>
            </a:r>
          </a:p>
          <a:p xmlns:a="http://schemas.openxmlformats.org/drawingml/2006/main">
            <a:r>
              <a:t>- /Users/oisinlyons/Documents/Codex/2026-07-24/okay-so-i-have-a-hackathon/worktrees/remit-main/docs/product/PRODUCT-BRIEF.md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can read invoices, but the company still needs a safe decision about whether this exact payment is allowed. Remit separates the routine majority from the material exceptions.</a:t>
            </a:r>
          </a:p>
          <a:p xmlns:a="http://schemas.openxmlformats.org/drawingml/2006/main">
            <a:r>
              <a:t/>
            </a:r>
          </a:p>
          <a:p xmlns:a="http://schemas.openxmlformats.org/drawingml/2006/main">
            <a:r>
              <a:t>[Sources]</a:t>
            </a:r>
          </a:p>
          <a:p xmlns:a="http://schemas.openxmlformats.org/drawingml/2006/main">
            <a:r>
              <a:t>- /Users/oisinlyons/Documents/Codex/2026-07-24/okay-so-i-have-a-hackathon/worktrees/remit-main/README.md</a:t>
            </a:r>
          </a:p>
          <a:p xmlns:a="http://schemas.openxmlformats.org/drawingml/2006/main">
            <a:r>
              <a:t>- /Users/oisinlyons/Documents/Codex/2026-07-24/okay-so-i-have-a-hackathon/worktrees/remit-main/docs/product/PRODUCT-BRIEF.md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live public demo. Point first to the policy-eligible and review-required counts, then to the held invoices, and finally to the independently checked Hedera Testnet evidence.</a:t>
            </a:r>
          </a:p>
          <a:p xmlns:a="http://schemas.openxmlformats.org/drawingml/2006/main">
            <a:r>
              <a:t/>
            </a:r>
          </a:p>
          <a:p xmlns:a="http://schemas.openxmlformats.org/drawingml/2006/main">
            <a:r>
              <a:t>[Sources]</a:t>
            </a:r>
          </a:p>
          <a:p xmlns:a="http://schemas.openxmlformats.org/drawingml/2006/main">
            <a:r>
              <a:t>- https://remithq.xyz/dashboard</a:t>
            </a:r>
          </a:p>
          <a:p xmlns:a="http://schemas.openxmlformats.org/drawingml/2006/main">
            <a:r>
              <a:t>- /tmp/remit-product-deck-20260726/remit-dashboard.png</a:t>
            </a:r>
          </a:p>
          <a:p xmlns:a="http://schemas.openxmlformats.org/drawingml/2006/main">
            <a:r>
              <a:t>- /Users/oisinlyons/Documents/Codex/2026-07-24/okay-so-i-have-a-hackathon/worktrees/remit-main/apps/web/src/app/(app)/dashboard/page.tsx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the demo story. Remit is not claiming the invoice is genuine; it is showing that a beneficiary change is materially different from the previously trusted supplier baseline and therefore cannot ride the routine lane.</a:t>
            </a:r>
          </a:p>
          <a:p xmlns:a="http://schemas.openxmlformats.org/drawingml/2006/main">
            <a:r>
              <a:t/>
            </a:r>
          </a:p>
          <a:p xmlns:a="http://schemas.openxmlformats.org/drawingml/2006/main">
            <a:r>
              <a:t>[Sources]</a:t>
            </a:r>
          </a:p>
          <a:p xmlns:a="http://schemas.openxmlformats.org/drawingml/2006/main">
            <a:r>
              <a:t>- https://remithq.xyz/dashboard</a:t>
            </a:r>
          </a:p>
          <a:p xmlns:a="http://schemas.openxmlformats.org/drawingml/2006/main">
            <a:r>
              <a:t>- /Users/oisinlyons/Documents/Codex/2026-07-24/okay-so-i-have-a-hackathon/worktrees/remit-main/docs/product/PRODUCT-BRIEF.md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digest is the thread through the system. If any material field changes after approval, the digest changes and the old authority no longer applies.</a:t>
            </a:r>
          </a:p>
          <a:p xmlns:a="http://schemas.openxmlformats.org/drawingml/2006/main">
            <a:r>
              <a:t/>
            </a:r>
          </a:p>
          <a:p xmlns:a="http://schemas.openxmlformats.org/drawingml/2006/main">
            <a:r>
              <a:t>[Sources]</a:t>
            </a:r>
          </a:p>
          <a:p xmlns:a="http://schemas.openxmlformats.org/drawingml/2006/main">
            <a:r>
              <a:t>- /Users/oisinlyons/Documents/Codex/2026-07-24/okay-so-i-have-a-hackathon/worktrees/remit-main/docs/architecture/decisions/0002-canonical-action-protocol.md</a:t>
            </a:r>
          </a:p>
          <a:p xmlns:a="http://schemas.openxmlformats.org/drawingml/2006/main">
            <a:r>
              <a:t>- /Users/oisinlyons/Documents/Codex/2026-07-24/okay-so-i-have-a-hackathon/worktrees/remit-main/docs/architecture/decisions/0003-deterministic-authorization.md</a:t>
            </a:r>
          </a:p>
          <a:p xmlns:a="http://schemas.openxmlformats.org/drawingml/2006/main">
            <a:r>
              <a:t>- /Users/oisinlyons/Documents/Codex/2026-07-24/okay-so-i-have-a-hackathon/worktrees/remit-main/docs/product/PRODUCT-BRIEF.md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answers the common wallet question: one person may have multiple agents and wallets, but multiplying wallets must not multiply approval power. Human uniqueness and company authority are deliberately independent.</a:t>
            </a:r>
          </a:p>
          <a:p xmlns:a="http://schemas.openxmlformats.org/drawingml/2006/main">
            <a:r>
              <a:t/>
            </a:r>
          </a:p>
          <a:p xmlns:a="http://schemas.openxmlformats.org/drawingml/2006/main">
            <a:r>
              <a:t>[Sources]</a:t>
            </a:r>
          </a:p>
          <a:p xmlns:a="http://schemas.openxmlformats.org/drawingml/2006/main">
            <a:r>
              <a:t>- /Users/oisinlyons/Documents/Codex/2026-07-24/okay-so-i-have-a-hackathon/worktrees/remit-main/docs/architecture/AUTHORITY-MODEL.md</a:t>
            </a:r>
          </a:p>
          <a:p xmlns:a="http://schemas.openxmlformats.org/drawingml/2006/main">
            <a:r>
              <a:t>- /Users/oisinlyons/Documents/Codex/2026-07-24/okay-so-i-have-a-hackathon/worktrees/remit-main/docs/sponsors/WORLD.md</a:t>
            </a:r>
          </a:p>
          <a:p xmlns:a="http://schemas.openxmlformats.org/drawingml/2006/main">
            <a:r>
              <a:t>- /Users/oisinlyons/Documents/Codex/2026-07-24/okay-so-i-have-a-hackathon/worktrees/remit-main/packages/world-adapter/src/ens.ts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Payable NFT is the payment identity, the Control NFT is the one-use execution artifact, and RMEURT is the synthetic money-like asset. The successful batch transfers 48,000 atoms and consumes both NFTs. The control artifact currently uses fixture authorization evidence, so this is a mechanism proof, not production authority.</a:t>
            </a:r>
          </a:p>
          <a:p xmlns:a="http://schemas.openxmlformats.org/drawingml/2006/main">
            <a:r>
              <a:t/>
            </a:r>
          </a:p>
          <a:p xmlns:a="http://schemas.openxmlformats.org/drawingml/2006/main">
            <a:r>
              <a:t>[Sources]</a:t>
            </a:r>
          </a:p>
          <a:p xmlns:a="http://schemas.openxmlformats.org/drawingml/2006/main">
            <a:r>
              <a:t>- /Users/oisinlyons/Documents/Codex/2026-07-24/okay-so-i-have-a-hackathon/worktrees/remit-main/docs/architecture/decisions/0011-experimental-dual-token-atomic-settlement.md</a:t>
            </a:r>
          </a:p>
          <a:p xmlns:a="http://schemas.openxmlformats.org/drawingml/2006/main">
            <a:r>
              <a:t>- /Users/oisinlyons/Documents/Codex/2026-07-24/okay-so-i-have-a-hackathon/worktrees/remit-main/docs/evidence/hedera-dual-token-live-2026-07-26.md</a:t>
            </a:r>
          </a:p>
          <a:p xmlns:a="http://schemas.openxmlformats.org/drawingml/2006/main">
            <a:r>
              <a:t>- https://hips.hedera.com/hip/hip-551</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boundaries crisp. ENS says what the wallet is called, World says whether two wallets represent distinct people, and the company says whether those people have the required role. Hedera executes and proves the exact admitted effect.</a:t>
            </a:r>
          </a:p>
          <a:p xmlns:a="http://schemas.openxmlformats.org/drawingml/2006/main">
            <a:r>
              <a:t/>
            </a:r>
          </a:p>
          <a:p xmlns:a="http://schemas.openxmlformats.org/drawingml/2006/main">
            <a:r>
              <a:t>[Sources]</a:t>
            </a:r>
          </a:p>
          <a:p xmlns:a="http://schemas.openxmlformats.org/drawingml/2006/main">
            <a:r>
              <a:t>- /Users/oisinlyons/Documents/Codex/2026-07-24/okay-so-i-have-a-hackathon/worktrees/remit-main/packages/world-adapter/src/ens.ts</a:t>
            </a:r>
          </a:p>
          <a:p xmlns:a="http://schemas.openxmlformats.org/drawingml/2006/main">
            <a:r>
              <a:t>- /Users/oisinlyons/Documents/Codex/2026-07-24/okay-so-i-have-a-hackathon/worktrees/remit-main/docs/sponsors/WORLD.md</a:t>
            </a:r>
          </a:p>
          <a:p xmlns:a="http://schemas.openxmlformats.org/drawingml/2006/main">
            <a:r>
              <a:t>- /Users/oisinlyons/Documents/Codex/2026-07-24/okay-so-i-have-a-hackathon/worktrees/remit-main/docs/sponsors/HEDERA.md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control promise. Today the public product and Hedera Testnet evidence are live. The dual-token path is an experimental mechanism proof. Action-time World approval and real supplier-bank settlement remain the next production boundary.</a:t>
            </a:r>
          </a:p>
          <a:p xmlns:a="http://schemas.openxmlformats.org/drawingml/2006/main">
            <a:r>
              <a:t/>
            </a:r>
          </a:p>
          <a:p xmlns:a="http://schemas.openxmlformats.org/drawingml/2006/main">
            <a:r>
              <a:t>[Sources]</a:t>
            </a:r>
          </a:p>
          <a:p xmlns:a="http://schemas.openxmlformats.org/drawingml/2006/main">
            <a:r>
              <a:t>- https://remithq.xyz</a:t>
            </a:r>
          </a:p>
          <a:p xmlns:a="http://schemas.openxmlformats.org/drawingml/2006/main">
            <a:r>
              <a:t>- /Users/oisinlyons/Documents/Codex/2026-07-24/okay-so-i-have-a-hackathon/worktrees/remit-main/docs/evidence/demo-live-2026-07-26.md</a:t>
            </a:r>
          </a:p>
          <a:p xmlns:a="http://schemas.openxmlformats.org/drawingml/2006/main">
            <a:r>
              <a:t>- /Users/oisinlyons/Documents/Codex/2026-07-24/okay-so-i-have-a-hackathon/worktrees/remit-main/docs/evidence/hedera-dual-token-live-2026-07-26.md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b5b048265064a4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f18c5331734bc0" /><Relationship Type="http://schemas.openxmlformats.org/officeDocument/2006/relationships/slideLayout" Target="/ppt/slideLayouts/slideLayout1.xml" Id="R8f4996a5b6484fd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4996a5b6484fd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bda3fe74455403a" /><Relationship Type="http://schemas.openxmlformats.org/officeDocument/2006/relationships/notesSlide" Target="/ppt/notesSlides/notesSlide1.xml" Id="R4799b9e0de624b1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1c6f9349ad94d98" /><Relationship Type="http://schemas.openxmlformats.org/officeDocument/2006/relationships/notesSlide" Target="/ppt/notesSlides/notesSlide2.xml" Id="R83eb7a2e50a145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eb694f44fd24344" /><Relationship Type="http://schemas.openxmlformats.org/officeDocument/2006/relationships/image" Target="/ppt/media/image.jpeg" Id="R1fdfd9ced43949c8" /><Relationship Type="http://schemas.openxmlformats.org/officeDocument/2006/relationships/notesSlide" Target="/ppt/notesSlides/notesSlide3.xml" Id="R782a61332e2a40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c79874210e84dd6" /><Relationship Type="http://schemas.openxmlformats.org/officeDocument/2006/relationships/notesSlide" Target="/ppt/notesSlides/notesSlide4.xml" Id="Rdcec091c63074ee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b2aa72c14a14612" /><Relationship Type="http://schemas.openxmlformats.org/officeDocument/2006/relationships/notesSlide" Target="/ppt/notesSlides/notesSlide5.xml" Id="R508b7aeddd4049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6a50b4836044b9b" /><Relationship Type="http://schemas.openxmlformats.org/officeDocument/2006/relationships/notesSlide" Target="/ppt/notesSlides/notesSlide6.xml" Id="Ra8ce83ddd212470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a8ac0e068e54913" /><Relationship Type="http://schemas.openxmlformats.org/officeDocument/2006/relationships/notesSlide" Target="/ppt/notesSlides/notesSlide7.xml" Id="R6dd4720210c146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401fd7aa3a94896" /><Relationship Type="http://schemas.openxmlformats.org/officeDocument/2006/relationships/notesSlide" Target="/ppt/notesSlides/notesSlide8.xml" Id="Rfb04723dacdd4b5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cedc7143cf7413a" /><Relationship Type="http://schemas.openxmlformats.org/officeDocument/2006/relationships/notesSlide" Target="/ppt/notesSlides/notesSlide9.xml" Id="Rdaa0d63f0a3c4a6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ACAAC81C-F90C-4FB2-B509-FBA28B12A679}"/>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lnSpc>
                <a:spcPct val="90000"/>
              </a:lnSpc>
              <a:spcAft>
                <a:spcPts val="800"/>
              </a:spcAft>
              <a:buNone/>
              <a:defRPr sz="6000">
                <a:solidFill>
                  <a:srgbClr val="000000"/>
                </a:solidFill>
                <a:latin typeface="Helvetica Neue"/>
                <a:ea typeface="Helvetica Neue"/>
                <a:cs typeface="Helvetica Neue"/>
              </a:defRPr>
            </a:pPr>
            <a:r>
              <a:rPr sz="6000">
                <a:solidFill>
                  <a:srgbClr val="000000"/>
                </a:solidFill>
                <a:latin typeface="Helvetica Neue"/>
                <a:ea typeface="Helvetica Neue"/>
                <a:cs typeface="Helvetica Neue"/>
              </a:rPr>
              <a:t>Invoices your agents
can actually pay.</a:t>
            </a:r>
          </a:p>
        </p:txBody>
      </p:sp>
      <p:sp>
        <p:nvSpPr>
          <p:cNvPr id="2" name="Subtitle-4-2">
            <a:extLst xmlns:a="http://schemas.openxmlformats.org/drawingml/2006/main">
              <a:ext uri="{FF2B5EF4-FFF2-40B4-BE49-F238E27FC236}">
                <a16:creationId xmlns:a16="http://schemas.microsoft.com/office/drawing/2014/main" id="{9EFF49FD-C823-4775-A67D-53FC1C879CF1}"/>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5000"/>
              </a:lnSpc>
              <a:spcBef>
                <a:spcPts val="1000"/>
              </a:spcBef>
              <a:spcAft>
                <a:spcPts val="800"/>
              </a:spcAft>
              <a:buNone/>
              <a:defRPr sz="24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Autonomous accounts payable with exact-action controls.</a:t>
            </a:r>
          </a:p>
        </p:txBody>
      </p:sp>
      <p:sp>
        <p:nvSpPr>
          <p:cNvPr id="3" name="Subtitle-4-3">
            <a:extLst xmlns:a="http://schemas.openxmlformats.org/drawingml/2006/main">
              <a:ext uri="{FF2B5EF4-FFF2-40B4-BE49-F238E27FC236}">
                <a16:creationId xmlns:a16="http://schemas.microsoft.com/office/drawing/2014/main" id="{87DEBC34-ECAD-4A73-9EEA-2ACA76C6F7DD}"/>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0000"/>
              </a:lnSpc>
              <a:spcBef>
                <a:spcPts val="1000"/>
              </a:spcBef>
              <a:spcAft>
                <a:spcPts val="800"/>
              </a:spcAft>
              <a:buNone/>
              <a:defRPr sz="24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REMIT · PRODUCT SHOWCASE</a:t>
            </a:r>
          </a:p>
        </p:txBody>
      </p:sp>
    </p:spTree>
    <p:extLst>
      <p:ext uri="{BB962C8B-B14F-4D97-AF65-F5344CB8AC3E}">
        <p14:creationId xmlns:p14="http://schemas.microsoft.com/office/powerpoint/2010/main" val="59901891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Google-Shape-532-p58-2">
            <a:extLst xmlns:a="http://schemas.openxmlformats.org/drawingml/2006/main">
              <a:ext uri="{FF2B5EF4-FFF2-40B4-BE49-F238E27FC236}">
                <a16:creationId xmlns:a16="http://schemas.microsoft.com/office/drawing/2014/main" id="{84D094E0-9E35-4EBE-8B38-2BABBF8372C1}"/>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2</a:t>
            </a:r>
          </a:p>
        </p:txBody>
      </p:sp>
      <p:sp>
        <p:nvSpPr>
          <p:cNvPr id="2" name="Google-Shape-533-p58-3">
            <a:extLst xmlns:a="http://schemas.openxmlformats.org/drawingml/2006/main">
              <a:ext uri="{FF2B5EF4-FFF2-40B4-BE49-F238E27FC236}">
                <a16:creationId xmlns:a16="http://schemas.microsoft.com/office/drawing/2014/main" id="{79AE40F2-214C-4C82-8724-4982D0F20DC3}"/>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spcAft>
                <a:spcPts val="800"/>
              </a:spcAft>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The bottleneck is authorization, not extraction.</a:t>
            </a:r>
          </a:p>
        </p:txBody>
      </p:sp>
      <p:sp>
        <p:nvSpPr>
          <p:cNvPr id="3" name="Google-Shape-534-p58-4">
            <a:extLst xmlns:a="http://schemas.openxmlformats.org/drawingml/2006/main">
              <a:ext uri="{FF2B5EF4-FFF2-40B4-BE49-F238E27FC236}">
                <a16:creationId xmlns:a16="http://schemas.microsoft.com/office/drawing/2014/main" id="{3527C3AB-ECE7-41C2-8FCD-76DC780A463B}"/>
              </a:ext>
            </a:extLst>
          </p:cNvPr>
          <p:cNvSpPr>
            <a:spLocks xmlns:a="http://schemas.openxmlformats.org/drawingml/2006/main" noGrp="1"/>
          </p:cNvSpPr>
          <p:nvPr/>
        </p:nvSpPr>
        <p:spPr>
          <a:xfrm xmlns:a="http://schemas.openxmlformats.org/drawingml/2006/main">
            <a:off x="393668" y="2031968"/>
            <a:ext cx="5537168" cy="3534823"/>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spcAft>
                <a:spcPts val="700"/>
              </a:spcAft>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THE 990
Routine invoices</a:t>
            </a:r>
          </a:p>
          <a:p xmlns:a="http://schemas.openxmlformats.org/drawingml/2006/main">
            <a:pPr algn="l">
              <a:lnSpc>
                <a:spcPct val="114000"/>
              </a:lnSpc>
              <a:spcAft>
                <a:spcPts val="700"/>
              </a:spcAft>
              <a:buNone/>
              <a:defRPr sz="2400">
                <a:solidFill>
                  <a:srgbClr val="000000"/>
                </a:solidFill>
                <a:latin typeface="Helvetica Neue"/>
                <a:ea typeface="Helvetica Neue"/>
                <a:cs typeface="Helvetica Neue"/>
              </a:defRPr>
            </a:pPr>
            <a:r>
              <a:rPr sz="1500">
                <a:solidFill>
                  <a:srgbClr val="000000"/>
                </a:solidFill>
                <a:latin typeface="Helvetica Neue"/>
                <a:ea typeface="Helvetica Neue"/>
                <a:cs typeface="Helvetica Neue"/>
              </a:rPr>
              <a:t>Known supplier. Unchanged beneficiary. Amount inside policy.
The agent can prepare and execute the exact permitted action without interrupting a person.</a:t>
            </a:r>
          </a:p>
        </p:txBody>
      </p:sp>
      <p:sp>
        <p:nvSpPr>
          <p:cNvPr id="4" name="Content-Placeholder-3-5">
            <a:extLst xmlns:a="http://schemas.openxmlformats.org/drawingml/2006/main">
              <a:ext uri="{FF2B5EF4-FFF2-40B4-BE49-F238E27FC236}">
                <a16:creationId xmlns:a16="http://schemas.microsoft.com/office/drawing/2014/main" id="{6D9BE825-A2DC-49E5-AF10-8ED74A992CA9}"/>
              </a:ext>
            </a:extLst>
          </p:cNvPr>
          <p:cNvSpPr>
            <a:spLocks xmlns:a="http://schemas.openxmlformats.org/drawingml/2006/main" noGrp="1"/>
          </p:cNvSpPr>
          <p:nvPr/>
        </p:nvSpPr>
        <p:spPr>
          <a:xfrm xmlns:a="http://schemas.openxmlformats.org/drawingml/2006/main">
            <a:off x="6256592" y="2031968"/>
            <a:ext cx="5537168" cy="3534823"/>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5000"/>
              </a:lnSpc>
              <a:spcAft>
                <a:spcPts val="700"/>
              </a:spcAft>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THE 10
Material exceptions</a:t>
            </a:r>
          </a:p>
          <a:p xmlns:a="http://schemas.openxmlformats.org/drawingml/2006/main">
            <a:pPr algn="l">
              <a:lnSpc>
                <a:spcPct val="114000"/>
              </a:lnSpc>
              <a:spcAft>
                <a:spcPts val="700"/>
              </a:spcAft>
              <a:buNone/>
              <a:defRPr sz="2400">
                <a:solidFill>
                  <a:srgbClr val="000000"/>
                </a:solidFill>
                <a:latin typeface="Helvetica Neue"/>
                <a:ea typeface="Helvetica Neue"/>
                <a:cs typeface="Helvetica Neue"/>
              </a:defRPr>
            </a:pPr>
            <a:r>
              <a:rPr sz="1500">
                <a:solidFill>
                  <a:srgbClr val="000000"/>
                </a:solidFill>
                <a:latin typeface="Helvetica Neue"/>
                <a:ea typeface="Helvetica Neue"/>
                <a:cs typeface="Helvetica Neue"/>
              </a:rPr>
              <a:t>New supplier. Changed bank account. Unusual amount.
The payment is held until the exact change has the evidence and distinct-human approval the policy requires.</a:t>
            </a:r>
          </a:p>
        </p:txBody>
      </p:sp>
    </p:spTree>
    <p:extLst>
      <p:ext uri="{BB962C8B-B14F-4D97-AF65-F5344CB8AC3E}">
        <p14:creationId xmlns:p14="http://schemas.microsoft.com/office/powerpoint/2010/main" val="14224653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Google-Shape-532-p58-2">
            <a:extLst xmlns:a="http://schemas.openxmlformats.org/drawingml/2006/main">
              <a:ext uri="{FF2B5EF4-FFF2-40B4-BE49-F238E27FC236}">
                <a16:creationId xmlns:a16="http://schemas.microsoft.com/office/drawing/2014/main" id="{0139D49C-200B-4B5E-966C-FEC2E8DB907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3</a:t>
            </a:r>
          </a:p>
        </p:txBody>
      </p:sp>
      <p:sp>
        <p:nvSpPr>
          <p:cNvPr id="2" name="Google-Shape-533-p58-3">
            <a:extLst xmlns:a="http://schemas.openxmlformats.org/drawingml/2006/main">
              <a:ext uri="{FF2B5EF4-FFF2-40B4-BE49-F238E27FC236}">
                <a16:creationId xmlns:a16="http://schemas.microsoft.com/office/drawing/2014/main" id="{5A3F4D4B-B6D0-4968-9A22-9EB2BCA80830}"/>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spcAft>
                <a:spcPts val="800"/>
              </a:spcAft>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One queue for the whole AP day.</a:t>
            </a:r>
          </a:p>
        </p:txBody>
      </p:sp>
      <p:sp>
        <p:nvSpPr>
          <p:cNvPr id="3" name="Picture-3-4-backing">
            <a:extLst xmlns:a="http://schemas.openxmlformats.org/drawingml/2006/main">
              <a:ext uri="{FF2B5EF4-FFF2-40B4-BE49-F238E27FC236}">
                <a16:creationId xmlns:a16="http://schemas.microsoft.com/office/drawing/2014/main" id="{429DF020-E1C0-4AB4-B8FE-A8C5B6F74B50}"/>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111111"/>
          </a:solidFill>
          <a:ln xmlns:a="http://schemas.openxmlformats.org/drawingml/2006/main" w="9525">
            <a:solidFill>
              <a:srgbClr val="B8BCC4"/>
            </a:solidFill>
            <a:prstDash val="solid"/>
          </a:ln>
        </p:spPr>
      </p:sp>
      <p:pic>
        <p:nvPicPr>
          <p:cNvPr id="9" name="Picture-3-4"/>
          <p:cNvPicPr>
            <a:picLocks xmlns:a="http://schemas.openxmlformats.org/drawingml/2006/main" noChangeAspect="1"/>
          </p:cNvPicPr>
          <p:nvPr/>
        </p:nvPicPr>
        <p:blipFill>
          <a:blip xmlns:r="http://schemas.openxmlformats.org/officeDocument/2006/relationships" xmlns:a="http://schemas.openxmlformats.org/drawingml/2006/main" r:embed="R1fdfd9ced43949c8"/>
          <a:srcRect xmlns:a="http://schemas.openxmlformats.org/drawingml/2006/main" l="24787" t="0" r="24787" b="0"/>
          <a:stretch xmlns:a="http://schemas.openxmlformats.org/drawingml/2006/main">
            <a:fillRect l="0" t="0" r="0" b="0"/>
          </a:stretch>
        </p:blipFill>
        <p:spPr>
          <a:xfrm xmlns:a="http://schemas.openxmlformats.org/drawingml/2006/main">
            <a:off x="6269069" y="396431"/>
            <a:ext cx="5539740" cy="5602034"/>
          </a:xfrm>
          <a:prstGeom xmlns:a="http://schemas.openxmlformats.org/drawingml/2006/main" prst="roundRect">
            <a:avLst/>
          </a:prstGeom>
        </p:spPr>
      </p:pic>
      <p:sp>
        <p:nvSpPr>
          <p:cNvPr id="5" name="Google-Shape-534-p58-5">
            <a:extLst xmlns:a="http://schemas.openxmlformats.org/drawingml/2006/main">
              <a:ext uri="{FF2B5EF4-FFF2-40B4-BE49-F238E27FC236}">
                <a16:creationId xmlns:a16="http://schemas.microsoft.com/office/drawing/2014/main" id="{BAAB94C0-4BC2-4EBD-B9AB-CCDD7F7D1188}"/>
              </a:ext>
            </a:extLst>
          </p:cNvPr>
          <p:cNvSpPr>
            <a:spLocks xmlns:a="http://schemas.openxmlformats.org/drawingml/2006/main" noGrp="1"/>
          </p:cNvSpPr>
          <p:nvPr/>
        </p:nvSpPr>
        <p:spPr>
          <a:xfrm xmlns:a="http://schemas.openxmlformats.org/drawingml/2006/main">
            <a:off x="393668" y="2031968"/>
            <a:ext cx="5537168" cy="3962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spcAft>
                <a:spcPts val="700"/>
              </a:spcAft>
              <a:buNone/>
              <a:defRPr sz="2400">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See what can move — and what must stop.</a:t>
            </a:r>
          </a:p>
          <a:p xmlns:a="http://schemas.openxmlformats.org/drawingml/2006/main">
            <a:pPr algn="l">
              <a:lnSpc>
                <a:spcPct val="114000"/>
              </a:lnSpc>
              <a:spcAft>
                <a:spcPts val="700"/>
              </a:spcAft>
              <a:buNone/>
              <a:defRPr sz="2400">
                <a:solidFill>
                  <a:srgbClr val="000000"/>
                </a:solidFill>
                <a:latin typeface="Helvetica Neue"/>
                <a:ea typeface="Helvetica Neue"/>
                <a:cs typeface="Helvetica Neue"/>
              </a:defRPr>
            </a:pPr>
            <a:r>
              <a:rPr sz="1500">
                <a:solidFill>
                  <a:srgbClr val="000000"/>
                </a:solidFill>
                <a:latin typeface="Helvetica Neue"/>
                <a:ea typeface="Helvetica Neue"/>
                <a:cs typeface="Helvetica Neue"/>
              </a:rPr>
              <a:t>Remit receives invoices, applies deterministic policy, and surfaces only the exceptions that need a decision.
• routine invoices become policy-eligible
• risky changes are held before payment
• product state sits beside public Hedera evidence</a:t>
            </a:r>
          </a:p>
        </p:txBody>
      </p:sp>
    </p:spTree>
    <p:extLst>
      <p:ext uri="{BB962C8B-B14F-4D97-AF65-F5344CB8AC3E}">
        <p14:creationId xmlns:p14="http://schemas.microsoft.com/office/powerpoint/2010/main" val="19674290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08F509EC-E313-4F50-9F14-F330D1E9E8D5}"/>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4</a:t>
            </a:r>
          </a:p>
        </p:txBody>
      </p:sp>
      <p:sp>
        <p:nvSpPr>
          <p:cNvPr id="2" name="Google-Shape-533-p58-3">
            <a:extLst xmlns:a="http://schemas.openxmlformats.org/drawingml/2006/main">
              <a:ext uri="{FF2B5EF4-FFF2-40B4-BE49-F238E27FC236}">
                <a16:creationId xmlns:a16="http://schemas.microsoft.com/office/drawing/2014/main" id="{0E79DE77-8048-4EEB-8D7E-D61F933E3A1E}"/>
              </a:ext>
            </a:extLst>
          </p:cNvPr>
          <p:cNvSpPr>
            <a:spLocks xmlns:a="http://schemas.openxmlformats.org/drawingml/2006/main" noGrp="1"/>
          </p:cNvSpPr>
          <p:nvPr/>
        </p:nvSpPr>
        <p:spPr>
          <a:xfrm xmlns:a="http://schemas.openxmlformats.org/drawingml/2006/main">
            <a:off x="393668" y="344519"/>
            <a:ext cx="11404568" cy="644271"/>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spcAft>
                <a:spcPts val="800"/>
              </a:spcAft>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Example: the invoice matches — except where the money goes.</a:t>
            </a:r>
          </a:p>
        </p:txBody>
      </p:sp>
      <p:sp>
        <p:nvSpPr>
          <p:cNvPr id="3" name="Rounded-Rectangle-1-4">
            <a:extLst xmlns:a="http://schemas.openxmlformats.org/drawingml/2006/main">
              <a:ext uri="{FF2B5EF4-FFF2-40B4-BE49-F238E27FC236}">
                <a16:creationId xmlns:a16="http://schemas.microsoft.com/office/drawing/2014/main" id="{7A8490B3-23B6-4599-9693-B687F7D4E35A}"/>
              </a:ext>
            </a:extLst>
          </p:cNvPr>
          <p:cNvSpPr>
            <a:spLocks xmlns:a="http://schemas.openxmlformats.org/drawingml/2006/main" noGrp="1"/>
          </p:cNvSpPr>
          <p:nvPr/>
        </p:nvSpPr>
        <p:spPr>
          <a:xfrm xmlns:a="http://schemas.openxmlformats.org/drawingml/2006/main">
            <a:off x="397002"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82F309CE-C5DE-49AA-B5F7-BE238ED1218A}"/>
              </a:ext>
            </a:extLst>
          </p:cNvPr>
          <p:cNvSpPr>
            <a:spLocks xmlns:a="http://schemas.openxmlformats.org/drawingml/2006/main" noGrp="1"/>
          </p:cNvSpPr>
          <p:nvPr/>
        </p:nvSpPr>
        <p:spPr>
          <a:xfrm xmlns:a="http://schemas.openxmlformats.org/drawingml/2006/main">
            <a:off x="694277"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5000"/>
              </a:lnSpc>
              <a:spcAft>
                <a:spcPts val="700"/>
              </a:spcAft>
              <a:buNone/>
              <a:defRPr sz="2400">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WHAT MATCHES</a:t>
            </a:r>
          </a:p>
        </p:txBody>
      </p:sp>
      <p:sp>
        <p:nvSpPr>
          <p:cNvPr id="5" name="Content-Placeholder-15-6">
            <a:extLst xmlns:a="http://schemas.openxmlformats.org/drawingml/2006/main">
              <a:ext uri="{FF2B5EF4-FFF2-40B4-BE49-F238E27FC236}">
                <a16:creationId xmlns:a16="http://schemas.microsoft.com/office/drawing/2014/main" id="{E4643579-DC73-4834-9BE7-C9EBBE0FC13D}"/>
              </a:ext>
            </a:extLst>
          </p:cNvPr>
          <p:cNvSpPr>
            <a:spLocks xmlns:a="http://schemas.openxmlformats.org/drawingml/2006/main" noGrp="1"/>
          </p:cNvSpPr>
          <p:nvPr/>
        </p:nvSpPr>
        <p:spPr>
          <a:xfrm xmlns:a="http://schemas.openxmlformats.org/drawingml/2006/main">
            <a:off x="694277"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14000"/>
              </a:lnSpc>
              <a:spcAft>
                <a:spcPts val="700"/>
              </a:spcAft>
              <a:buNone/>
              <a:defRPr sz="1600">
                <a:solidFill>
                  <a:srgbClr val="000000"/>
                </a:solidFill>
                <a:latin typeface="Helvetica Neue"/>
                <a:ea typeface="Helvetica Neue"/>
                <a:cs typeface="Helvetica Neue"/>
              </a:defRPr>
            </a:pPr>
            <a:r>
              <a:rPr sz="1350">
                <a:solidFill>
                  <a:srgbClr val="000000"/>
                </a:solidFill>
                <a:latin typeface="Helvetica Neue"/>
                <a:ea typeface="Helvetica Neue"/>
                <a:cs typeface="Helvetica Neue"/>
              </a:rPr>
              <a:t>Supplier and invoice identity</a:t>
            </a:r>
          </a:p>
          <a:p xmlns:a="http://schemas.openxmlformats.org/drawingml/2006/main">
            <a:pPr algn="l">
              <a:lnSpc>
                <a:spcPct val="114000"/>
              </a:lnSpc>
              <a:spcAft>
                <a:spcPts val="700"/>
              </a:spcAft>
              <a:buNone/>
              <a:defRPr sz="1600">
                <a:solidFill>
                  <a:srgbClr val="000000"/>
                </a:solidFill>
                <a:latin typeface="Helvetica Neue"/>
                <a:ea typeface="Helvetica Neue"/>
                <a:cs typeface="Helvetica Neue"/>
              </a:defRPr>
            </a:pPr>
            <a:r>
              <a:rPr sz="1350">
                <a:solidFill>
                  <a:srgbClr val="000000"/>
                </a:solidFill>
                <a:latin typeface="Helvetica Neue"/>
                <a:ea typeface="Helvetica Neue"/>
                <a:cs typeface="Helvetica Neue"/>
              </a:rPr>
              <a:t>€25,000 amount and reference</a:t>
            </a:r>
          </a:p>
          <a:p xmlns:a="http://schemas.openxmlformats.org/drawingml/2006/main">
            <a:pPr algn="l">
              <a:lnSpc>
                <a:spcPct val="114000"/>
              </a:lnSpc>
              <a:spcAft>
                <a:spcPts val="700"/>
              </a:spcAft>
              <a:buNone/>
              <a:defRPr sz="1600">
                <a:solidFill>
                  <a:srgbClr val="000000"/>
                </a:solidFill>
                <a:latin typeface="Helvetica Neue"/>
                <a:ea typeface="Helvetica Neue"/>
                <a:cs typeface="Helvetica Neue"/>
              </a:defRPr>
            </a:pPr>
            <a:r>
              <a:rPr sz="1350">
                <a:solidFill>
                  <a:srgbClr val="000000"/>
                </a:solidFill>
                <a:latin typeface="Helvetica Neue"/>
                <a:ea typeface="Helvetica Neue"/>
                <a:cs typeface="Helvetica Neue"/>
              </a:rPr>
              <a:t>PO, tax, and duplicate checks</a:t>
            </a:r>
          </a:p>
        </p:txBody>
      </p:sp>
      <p:sp>
        <p:nvSpPr>
          <p:cNvPr id="6" name="Rounded-Rectangle-7-7">
            <a:extLst xmlns:a="http://schemas.openxmlformats.org/drawingml/2006/main">
              <a:ext uri="{FF2B5EF4-FFF2-40B4-BE49-F238E27FC236}">
                <a16:creationId xmlns:a16="http://schemas.microsoft.com/office/drawing/2014/main" id="{70DA17FF-0F19-460E-99B4-A515820D4A21}"/>
              </a:ext>
            </a:extLst>
          </p:cNvPr>
          <p:cNvSpPr>
            <a:spLocks xmlns:a="http://schemas.openxmlformats.org/drawingml/2006/main" noGrp="1"/>
          </p:cNvSpPr>
          <p:nvPr/>
        </p:nvSpPr>
        <p:spPr>
          <a:xfrm xmlns:a="http://schemas.openxmlformats.org/drawingml/2006/main">
            <a:off x="6260783"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7" name="Content-Placeholder-10-8">
            <a:extLst xmlns:a="http://schemas.openxmlformats.org/drawingml/2006/main">
              <a:ext uri="{FF2B5EF4-FFF2-40B4-BE49-F238E27FC236}">
                <a16:creationId xmlns:a16="http://schemas.microsoft.com/office/drawing/2014/main" id="{1352BB95-CE85-44FA-884D-D91DF28D4557}"/>
              </a:ext>
            </a:extLst>
          </p:cNvPr>
          <p:cNvSpPr>
            <a:spLocks xmlns:a="http://schemas.openxmlformats.org/drawingml/2006/main" noGrp="1"/>
          </p:cNvSpPr>
          <p:nvPr/>
        </p:nvSpPr>
        <p:spPr>
          <a:xfrm xmlns:a="http://schemas.openxmlformats.org/drawingml/2006/main">
            <a:off x="6558058"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5000"/>
              </a:lnSpc>
              <a:spcAft>
                <a:spcPts val="700"/>
              </a:spcAft>
              <a:buNone/>
              <a:defRPr sz="2400">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WHAT CHANGED</a:t>
            </a:r>
          </a:p>
        </p:txBody>
      </p:sp>
      <p:sp>
        <p:nvSpPr>
          <p:cNvPr id="8" name="Content-Placeholder-15-9">
            <a:extLst xmlns:a="http://schemas.openxmlformats.org/drawingml/2006/main">
              <a:ext uri="{FF2B5EF4-FFF2-40B4-BE49-F238E27FC236}">
                <a16:creationId xmlns:a16="http://schemas.microsoft.com/office/drawing/2014/main" id="{383B6C0A-5559-4BA3-92F3-4BC277789EF4}"/>
              </a:ext>
            </a:extLst>
          </p:cNvPr>
          <p:cNvSpPr>
            <a:spLocks xmlns:a="http://schemas.openxmlformats.org/drawingml/2006/main" noGrp="1"/>
          </p:cNvSpPr>
          <p:nvPr/>
        </p:nvSpPr>
        <p:spPr>
          <a:xfrm xmlns:a="http://schemas.openxmlformats.org/drawingml/2006/main">
            <a:off x="6558058"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14000"/>
              </a:lnSpc>
              <a:spcAft>
                <a:spcPts val="700"/>
              </a:spcAft>
              <a:buNone/>
              <a:defRPr sz="1600">
                <a:solidFill>
                  <a:srgbClr val="000000"/>
                </a:solidFill>
                <a:latin typeface="Helvetica Neue"/>
                <a:ea typeface="Helvetica Neue"/>
                <a:cs typeface="Helvetica Neue"/>
              </a:defRPr>
            </a:pPr>
            <a:r>
              <a:rPr sz="1350">
                <a:solidFill>
                  <a:srgbClr val="000000"/>
                </a:solidFill>
                <a:latin typeface="Helvetica Neue"/>
                <a:ea typeface="Helvetica Neue"/>
                <a:cs typeface="Helvetica Neue"/>
              </a:rPr>
              <a:t>Beneficiary bank account</a:t>
            </a:r>
          </a:p>
          <a:p xmlns:a="http://schemas.openxmlformats.org/drawingml/2006/main">
            <a:pPr algn="l">
              <a:lnSpc>
                <a:spcPct val="114000"/>
              </a:lnSpc>
              <a:spcAft>
                <a:spcPts val="700"/>
              </a:spcAft>
              <a:buNone/>
              <a:defRPr sz="1600">
                <a:solidFill>
                  <a:srgbClr val="000000"/>
                </a:solidFill>
                <a:latin typeface="Helvetica Neue"/>
                <a:ea typeface="Helvetica Neue"/>
                <a:cs typeface="Helvetica Neue"/>
              </a:defRPr>
            </a:pPr>
            <a:r>
              <a:rPr sz="1350">
                <a:solidFill>
                  <a:srgbClr val="000000"/>
                </a:solidFill>
                <a:latin typeface="Helvetica Neue"/>
                <a:ea typeface="Helvetica Neue"/>
                <a:cs typeface="Helvetica Neue"/>
              </a:rPr>
              <a:t>Route changes to review</a:t>
            </a:r>
          </a:p>
          <a:p xmlns:a="http://schemas.openxmlformats.org/drawingml/2006/main">
            <a:pPr algn="l">
              <a:lnSpc>
                <a:spcPct val="114000"/>
              </a:lnSpc>
              <a:spcAft>
                <a:spcPts val="700"/>
              </a:spcAft>
              <a:buNone/>
              <a:defRPr sz="1600">
                <a:solidFill>
                  <a:srgbClr val="000000"/>
                </a:solidFill>
                <a:latin typeface="Helvetica Neue"/>
                <a:ea typeface="Helvetica Neue"/>
                <a:cs typeface="Helvetica Neue"/>
              </a:defRPr>
            </a:pPr>
            <a:r>
              <a:rPr sz="1350">
                <a:solidFill>
                  <a:srgbClr val="000000"/>
                </a:solidFill>
                <a:latin typeface="Helvetica Neue"/>
                <a:ea typeface="Helvetica Neue"/>
                <a:cs typeface="Helvetica Neue"/>
              </a:rPr>
              <a:t>Two distinct approvers required</a:t>
            </a:r>
          </a:p>
        </p:txBody>
      </p:sp>
      <p:sp>
        <p:nvSpPr>
          <p:cNvPr id="9" name="Content-Placeholder-15-10">
            <a:extLst xmlns:a="http://schemas.openxmlformats.org/drawingml/2006/main">
              <a:ext uri="{FF2B5EF4-FFF2-40B4-BE49-F238E27FC236}">
                <a16:creationId xmlns:a16="http://schemas.microsoft.com/office/drawing/2014/main" id="{7474F15E-53BB-4955-9A69-7E45A684F856}"/>
              </a:ext>
            </a:extLst>
          </p:cNvPr>
          <p:cNvSpPr>
            <a:spLocks xmlns:a="http://schemas.openxmlformats.org/drawingml/2006/main" noGrp="1"/>
          </p:cNvSpPr>
          <p:nvPr/>
        </p:nvSpPr>
        <p:spPr>
          <a:xfrm xmlns:a="http://schemas.openxmlformats.org/drawingml/2006/main">
            <a:off x="400907" y="1157478"/>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5000"/>
              </a:lnSpc>
              <a:spcAft>
                <a:spcPts val="700"/>
              </a:spcAft>
              <a:buNone/>
              <a:defRPr sz="16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Padel Surfaces Lda · €25,000</a:t>
            </a:r>
          </a:p>
          <a:p xmlns:a="http://schemas.openxmlformats.org/drawingml/2006/main">
            <a:pPr algn="l">
              <a:lnSpc>
                <a:spcPct val="114000"/>
              </a:lnSpc>
              <a:spcAft>
                <a:spcPts val="700"/>
              </a:spcAft>
              <a:buNone/>
              <a:defRPr sz="1600">
                <a:solidFill>
                  <a:srgbClr val="000000"/>
                </a:solidFill>
                <a:latin typeface="Helvetica Neue"/>
                <a:ea typeface="Helvetica Neue"/>
                <a:cs typeface="Helvetica Neue"/>
              </a:defRPr>
            </a:pPr>
            <a:r>
              <a:rPr sz="1425">
                <a:solidFill>
                  <a:srgbClr val="000000"/>
                </a:solidFill>
                <a:latin typeface="Helvetica Neue"/>
                <a:ea typeface="Helvetica Neue"/>
                <a:cs typeface="Helvetica Neue"/>
              </a:rPr>
              <a:t>The supplier, amount, invoice record, and business context match the expected purchase.</a:t>
            </a:r>
          </a:p>
          <a:p xmlns:a="http://schemas.openxmlformats.org/drawingml/2006/main">
            <a:pPr algn="l">
              <a:lnSpc>
                <a:spcPct val="114000"/>
              </a:lnSpc>
              <a:spcAft>
                <a:spcPts val="700"/>
              </a:spcAft>
              <a:buNone/>
              <a:defRPr sz="1600">
                <a:solidFill>
                  <a:srgbClr val="000000"/>
                </a:solidFill>
                <a:latin typeface="Helvetica Neue"/>
                <a:ea typeface="Helvetica Neue"/>
                <a:cs typeface="Helvetica Neue"/>
              </a:defRPr>
            </a:pPr>
            <a:r>
              <a:rPr sz="1425">
                <a:solidFill>
                  <a:srgbClr val="000000"/>
                </a:solidFill>
                <a:latin typeface="Helvetica Neue"/>
                <a:ea typeface="Helvetica Neue"/>
                <a:cs typeface="Helvetica Neue"/>
              </a:rPr>
              <a:t>But the beneficiary account is different. That one change makes this a new, higher-risk payment action.</a:t>
            </a:r>
          </a:p>
        </p:txBody>
      </p:sp>
    </p:spTree>
    <p:extLst>
      <p:ext uri="{BB962C8B-B14F-4D97-AF65-F5344CB8AC3E}">
        <p14:creationId xmlns:p14="http://schemas.microsoft.com/office/powerpoint/2010/main" val="134351414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FDFEDF69-0027-482C-BFBB-E524F32B8548}"/>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5</a:t>
            </a:r>
          </a:p>
        </p:txBody>
      </p:sp>
      <p:sp>
        <p:nvSpPr>
          <p:cNvPr id="2" name="Title-10-3">
            <a:extLst xmlns:a="http://schemas.openxmlformats.org/drawingml/2006/main">
              <a:ext uri="{FF2B5EF4-FFF2-40B4-BE49-F238E27FC236}">
                <a16:creationId xmlns:a16="http://schemas.microsoft.com/office/drawing/2014/main" id="{76544682-80FE-40F6-9563-07A596AF1BBC}"/>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0000"/>
              </a:lnSpc>
              <a:spcAft>
                <a:spcPts val="800"/>
              </a:spcAft>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From invoice to a provable payment decision.</a:t>
            </a:r>
          </a:p>
        </p:txBody>
      </p:sp>
      <p:cxnSp>
        <p:nvCxnSpPr>
          <p:cNvPr id="15"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A2E53D21-DDD5-4A5B-9941-E1B68A0B07CD}"/>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330894EA-51B9-43C9-AC59-5BB8C02D1EDA}"/>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A0FAD70F-E530-4453-B053-362274CFEBDD}"/>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756E838E-26AF-419E-8E0D-528B94CFF54D}"/>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10000"/>
              </a:lnSpc>
              <a:spcAft>
                <a:spcPts val="800"/>
              </a:spcAft>
              <a:buNone/>
              <a:defRPr sz="1600">
                <a:solidFill>
                  <a:srgbClr val="000000"/>
                </a:solidFill>
                <a:latin typeface="Helvetica Neue"/>
                <a:ea typeface="Helvetica Neue"/>
                <a:cs typeface="Helvetica Neue"/>
              </a:defRPr>
            </a:pPr>
            <a:r>
              <a:rPr sz="1400">
                <a:solidFill>
                  <a:srgbClr val="000000"/>
                </a:solidFill>
                <a:latin typeface="Helvetica Neue"/>
                <a:ea typeface="Helvetica Neue"/>
                <a:cs typeface="Helvetica Neue"/>
              </a:rPr>
              <a:t>01 / FREEZE</a:t>
            </a:r>
          </a:p>
        </p:txBody>
      </p:sp>
      <p:sp>
        <p:nvSpPr>
          <p:cNvPr id="8" name="Content-Placeholder-15-9">
            <a:extLst xmlns:a="http://schemas.openxmlformats.org/drawingml/2006/main">
              <a:ext uri="{FF2B5EF4-FFF2-40B4-BE49-F238E27FC236}">
                <a16:creationId xmlns:a16="http://schemas.microsoft.com/office/drawing/2014/main" id="{C0A1621A-F23C-4ECE-8EA5-8E75F5BC68BE}"/>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10000"/>
              </a:lnSpc>
              <a:spcAft>
                <a:spcPts val="800"/>
              </a:spcAft>
              <a:buNone/>
              <a:defRPr sz="1600">
                <a:solidFill>
                  <a:srgbClr val="000000"/>
                </a:solidFill>
                <a:latin typeface="Helvetica Neue"/>
                <a:ea typeface="Helvetica Neue"/>
                <a:cs typeface="Helvetica Neue"/>
              </a:defRPr>
            </a:pPr>
            <a:r>
              <a:rPr sz="1400">
                <a:solidFill>
                  <a:srgbClr val="000000"/>
                </a:solidFill>
                <a:latin typeface="Helvetica Neue"/>
                <a:ea typeface="Helvetica Neue"/>
                <a:cs typeface="Helvetica Neue"/>
              </a:rPr>
              <a:t>02 / ROUTE</a:t>
            </a:r>
          </a:p>
        </p:txBody>
      </p:sp>
      <p:sp>
        <p:nvSpPr>
          <p:cNvPr id="9" name="Content-Placeholder-15-10">
            <a:extLst xmlns:a="http://schemas.openxmlformats.org/drawingml/2006/main">
              <a:ext uri="{FF2B5EF4-FFF2-40B4-BE49-F238E27FC236}">
                <a16:creationId xmlns:a16="http://schemas.microsoft.com/office/drawing/2014/main" id="{56B4FBCA-7EB1-4DE8-8C1D-8378877E914C}"/>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10000"/>
              </a:lnSpc>
              <a:spcAft>
                <a:spcPts val="800"/>
              </a:spcAft>
              <a:buNone/>
              <a:defRPr sz="1600">
                <a:solidFill>
                  <a:srgbClr val="000000"/>
                </a:solidFill>
                <a:latin typeface="Helvetica Neue"/>
                <a:ea typeface="Helvetica Neue"/>
                <a:cs typeface="Helvetica Neue"/>
              </a:defRPr>
            </a:pPr>
            <a:r>
              <a:rPr sz="1400">
                <a:solidFill>
                  <a:srgbClr val="000000"/>
                </a:solidFill>
                <a:latin typeface="Helvetica Neue"/>
                <a:ea typeface="Helvetica Neue"/>
                <a:cs typeface="Helvetica Neue"/>
              </a:rPr>
              <a:t>03 / SETTLE</a:t>
            </a:r>
          </a:p>
        </p:txBody>
      </p:sp>
      <p:sp>
        <p:nvSpPr>
          <p:cNvPr id="10" name="Text-Placeholder-16-11">
            <a:extLst xmlns:a="http://schemas.openxmlformats.org/drawingml/2006/main">
              <a:ext uri="{FF2B5EF4-FFF2-40B4-BE49-F238E27FC236}">
                <a16:creationId xmlns:a16="http://schemas.microsoft.com/office/drawing/2014/main" id="{085A84F4-1894-4B75-927B-C66BB655B027}"/>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5000"/>
              </a:lnSpc>
              <a:spcAft>
                <a:spcPts val="700"/>
              </a:spcAft>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Policy + authority</a:t>
            </a:r>
          </a:p>
          <a:p xmlns:a="http://schemas.openxmlformats.org/drawingml/2006/main">
            <a:pPr algn="l">
              <a:lnSpc>
                <a:spcPct val="114000"/>
              </a:lnSpc>
              <a:spcAft>
                <a:spcPts val="700"/>
              </a:spcAft>
              <a:buNone/>
              <a:defRPr sz="2400">
                <a:solidFill>
                  <a:srgbClr val="000000"/>
                </a:solidFill>
                <a:latin typeface="Helvetica Neue"/>
                <a:ea typeface="Helvetica Neue"/>
                <a:cs typeface="Helvetica Neue"/>
              </a:defRPr>
            </a:pPr>
            <a:r>
              <a:rPr sz="1388">
                <a:solidFill>
                  <a:srgbClr val="000000"/>
                </a:solidFill>
                <a:latin typeface="Helvetica Neue"/>
                <a:ea typeface="Helvetica Neue"/>
                <a:cs typeface="Helvetica Neue"/>
              </a:rPr>
              <a:t>Route to autonomous, review, or blocked. Any approval is bound to that exact digest.</a:t>
            </a:r>
          </a:p>
        </p:txBody>
      </p:sp>
      <p:sp>
        <p:nvSpPr>
          <p:cNvPr id="11" name="Text-Placeholder-16-12">
            <a:extLst xmlns:a="http://schemas.openxmlformats.org/drawingml/2006/main">
              <a:ext uri="{FF2B5EF4-FFF2-40B4-BE49-F238E27FC236}">
                <a16:creationId xmlns:a16="http://schemas.microsoft.com/office/drawing/2014/main" id="{7BDABA41-DD4B-4E1A-9EFA-364479925653}"/>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5000"/>
              </a:lnSpc>
              <a:spcAft>
                <a:spcPts val="700"/>
              </a:spcAft>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Receive + freeze</a:t>
            </a:r>
          </a:p>
          <a:p xmlns:a="http://schemas.openxmlformats.org/drawingml/2006/main">
            <a:pPr algn="l">
              <a:lnSpc>
                <a:spcPct val="114000"/>
              </a:lnSpc>
              <a:spcAft>
                <a:spcPts val="700"/>
              </a:spcAft>
              <a:buNone/>
              <a:defRPr sz="2400">
                <a:solidFill>
                  <a:srgbClr val="000000"/>
                </a:solidFill>
                <a:latin typeface="Helvetica Neue"/>
                <a:ea typeface="Helvetica Neue"/>
                <a:cs typeface="Helvetica Neue"/>
              </a:defRPr>
            </a:pPr>
            <a:r>
              <a:rPr sz="1388">
                <a:solidFill>
                  <a:srgbClr val="000000"/>
                </a:solidFill>
                <a:latin typeface="Helvetica Neue"/>
                <a:ea typeface="Helvetica Neue"/>
                <a:cs typeface="Helvetica Neue"/>
              </a:rPr>
              <a:t>Lock supplier, beneficiary, amount, reference, and expiry into one canonical action digest.</a:t>
            </a:r>
          </a:p>
        </p:txBody>
      </p:sp>
      <p:sp>
        <p:nvSpPr>
          <p:cNvPr id="12" name="Text-Placeholder-16-13">
            <a:extLst xmlns:a="http://schemas.openxmlformats.org/drawingml/2006/main">
              <a:ext uri="{FF2B5EF4-FFF2-40B4-BE49-F238E27FC236}">
                <a16:creationId xmlns:a16="http://schemas.microsoft.com/office/drawing/2014/main" id="{208AEA0F-97CF-4493-BD51-E7B51051FE03}"/>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5000"/>
              </a:lnSpc>
              <a:spcAft>
                <a:spcPts val="700"/>
              </a:spcAft>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Execute + reconcile</a:t>
            </a:r>
          </a:p>
          <a:p xmlns:a="http://schemas.openxmlformats.org/drawingml/2006/main">
            <a:pPr algn="l">
              <a:lnSpc>
                <a:spcPct val="114000"/>
              </a:lnSpc>
              <a:spcAft>
                <a:spcPts val="700"/>
              </a:spcAft>
              <a:buNone/>
              <a:defRPr sz="2400">
                <a:solidFill>
                  <a:srgbClr val="000000"/>
                </a:solidFill>
                <a:latin typeface="Helvetica Neue"/>
                <a:ea typeface="Helvetica Neue"/>
                <a:cs typeface="Helvetica Neue"/>
              </a:defRPr>
            </a:pPr>
            <a:r>
              <a:rPr sz="1388">
                <a:solidFill>
                  <a:srgbClr val="000000"/>
                </a:solidFill>
                <a:latin typeface="Helvetica Neue"/>
                <a:ea typeface="Helvetica Neue"/>
                <a:cs typeface="Helvetica Neue"/>
              </a:rPr>
              <a:t>Execute the admitted effect once, then expose durable receipts and public ledger evidence.</a:t>
            </a:r>
          </a:p>
        </p:txBody>
      </p:sp>
    </p:spTree>
    <p:extLst>
      <p:ext uri="{BB962C8B-B14F-4D97-AF65-F5344CB8AC3E}">
        <p14:creationId xmlns:p14="http://schemas.microsoft.com/office/powerpoint/2010/main" val="191637896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oogle-Shape-532-p58-2">
            <a:extLst xmlns:a="http://schemas.openxmlformats.org/drawingml/2006/main">
              <a:ext uri="{FF2B5EF4-FFF2-40B4-BE49-F238E27FC236}">
                <a16:creationId xmlns:a16="http://schemas.microsoft.com/office/drawing/2014/main" id="{9B7EBAF0-B2A7-4320-AF8B-28DC1374E691}"/>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6</a:t>
            </a:r>
          </a:p>
        </p:txBody>
      </p:sp>
      <p:sp>
        <p:nvSpPr>
          <p:cNvPr id="2" name="Google-Shape-533-p58-3">
            <a:extLst xmlns:a="http://schemas.openxmlformats.org/drawingml/2006/main">
              <a:ext uri="{FF2B5EF4-FFF2-40B4-BE49-F238E27FC236}">
                <a16:creationId xmlns:a16="http://schemas.microsoft.com/office/drawing/2014/main" id="{D6ED6FCE-B2FA-4C6A-885A-0E6EF66E6034}"/>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spcAft>
                <a:spcPts val="800"/>
              </a:spcAft>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A wallet is an actor — not automatically a vote.</a:t>
            </a:r>
          </a:p>
        </p:txBody>
      </p:sp>
      <p:sp>
        <p:nvSpPr>
          <p:cNvPr id="3" name="Google-Shape-558-p61-4">
            <a:extLst xmlns:a="http://schemas.openxmlformats.org/drawingml/2006/main">
              <a:ext uri="{FF2B5EF4-FFF2-40B4-BE49-F238E27FC236}">
                <a16:creationId xmlns:a16="http://schemas.microsoft.com/office/drawing/2014/main" id="{34CCC802-4187-4E5E-85DA-6EB47CFAD632}"/>
              </a:ext>
            </a:extLst>
          </p:cNvPr>
          <p:cNvSpPr>
            <a:spLocks xmlns:a="http://schemas.openxmlformats.org/drawingml/2006/main" noGrp="1"/>
          </p:cNvSpPr>
          <p:nvPr/>
        </p:nvSpPr>
        <p:spPr>
          <a:xfrm xmlns:a="http://schemas.openxmlformats.org/drawingml/2006/main">
            <a:off x="393668" y="4013168"/>
            <a:ext cx="3568732" cy="1981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Aft>
                <a:spcPts val="0"/>
              </a:spcAft>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AGENT
</a:t>
            </a:r>
            <a:r>
              <a:rPr sz="1463">
                <a:solidFill>
                  <a:srgbClr val="000000"/>
                </a:solidFill>
                <a:latin typeface="Helvetica Neue"/>
                <a:ea typeface="Helvetica Neue"/>
                <a:cs typeface="Helvetica Neue"/>
              </a:rPr>
              <a:t>The acting software unit. It holds a wallet, submits exact actions, and executes only inside a standing mandate.</a:t>
            </a:r>
          </a:p>
        </p:txBody>
      </p:sp>
      <p:sp>
        <p:nvSpPr>
          <p:cNvPr id="4" name="Google-Shape-559-p61-5">
            <a:extLst xmlns:a="http://schemas.openxmlformats.org/drawingml/2006/main">
              <a:ext uri="{FF2B5EF4-FFF2-40B4-BE49-F238E27FC236}">
                <a16:creationId xmlns:a16="http://schemas.microsoft.com/office/drawing/2014/main" id="{9BEB41F6-7B69-4F62-9E0E-7812F4E094DB}"/>
              </a:ext>
            </a:extLst>
          </p:cNvPr>
          <p:cNvSpPr>
            <a:spLocks xmlns:a="http://schemas.openxmlformats.org/drawingml/2006/main" noGrp="1"/>
          </p:cNvSpPr>
          <p:nvPr/>
        </p:nvSpPr>
        <p:spPr>
          <a:xfrm xmlns:a="http://schemas.openxmlformats.org/drawingml/2006/main">
            <a:off x="4317968" y="4013168"/>
            <a:ext cx="3568732" cy="1981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Aft>
                <a:spcPts val="0"/>
              </a:spcAft>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HUMAN
</a:t>
            </a:r>
            <a:r>
              <a:rPr sz="1463">
                <a:solidFill>
                  <a:srgbClr val="000000"/>
                </a:solidFill>
                <a:latin typeface="Helvetica Neue"/>
                <a:ea typeface="Helvetica Neue"/>
                <a:cs typeface="Helvetica Neue"/>
              </a:rPr>
              <a:t>World groups wallets by backing person. Five agent wallets owned by one human still count once for quorum.</a:t>
            </a:r>
          </a:p>
        </p:txBody>
      </p:sp>
      <p:sp>
        <p:nvSpPr>
          <p:cNvPr id="5" name="Google-Shape-560-p61-6">
            <a:extLst xmlns:a="http://schemas.openxmlformats.org/drawingml/2006/main">
              <a:ext uri="{FF2B5EF4-FFF2-40B4-BE49-F238E27FC236}">
                <a16:creationId xmlns:a16="http://schemas.microsoft.com/office/drawing/2014/main" id="{2FFCE043-9364-4D99-94DD-400236F666C1}"/>
              </a:ext>
            </a:extLst>
          </p:cNvPr>
          <p:cNvSpPr>
            <a:spLocks xmlns:a="http://schemas.openxmlformats.org/drawingml/2006/main" noGrp="1"/>
          </p:cNvSpPr>
          <p:nvPr/>
        </p:nvSpPr>
        <p:spPr>
          <a:xfrm xmlns:a="http://schemas.openxmlformats.org/drawingml/2006/main">
            <a:off x="8232267" y="4013168"/>
            <a:ext cx="3568732" cy="19812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spcAft>
                <a:spcPts val="0"/>
              </a:spcAft>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COMPANY ROLE
</a:t>
            </a:r>
            <a:r>
              <a:rPr sz="1463">
                <a:solidFill>
                  <a:srgbClr val="000000"/>
                </a:solidFill>
                <a:latin typeface="Helvetica Neue"/>
                <a:ea typeface="Helvetica Neue"/>
                <a:cs typeface="Helvetica Neue"/>
              </a:rPr>
              <a:t>Organisation membership and approval authority stay separate. A unique human is not automatically an approver.</a:t>
            </a:r>
          </a:p>
        </p:txBody>
      </p:sp>
      <p:sp>
        <p:nvSpPr>
          <p:cNvPr id="6" name="Google-Shape-561-p61-7">
            <a:extLst xmlns:a="http://schemas.openxmlformats.org/drawingml/2006/main">
              <a:ext uri="{FF2B5EF4-FFF2-40B4-BE49-F238E27FC236}">
                <a16:creationId xmlns:a16="http://schemas.microsoft.com/office/drawing/2014/main" id="{74092632-6BEA-4103-BC87-EE0696F58892}"/>
              </a:ext>
            </a:extLst>
          </p:cNvPr>
          <p:cNvSpPr>
            <a:spLocks xmlns:a="http://schemas.openxmlformats.org/drawingml/2006/main" noGrp="1"/>
          </p:cNvSpPr>
          <p:nvPr/>
        </p:nvSpPr>
        <p:spPr>
          <a:xfrm xmlns:a="http://schemas.openxmlformats.org/drawingml/2006/main">
            <a:off x="4279868" y="3382328"/>
            <a:ext cx="315563" cy="353854"/>
          </a:xfrm>
          <a:custGeom xmlns:a="http://schemas.openxmlformats.org/drawingml/2006/main">
            <a:pathLst>
              <a:path w="192747900" h="191595375">
                <a:moveTo>
                  <a:pt x="107661075" y="24707850"/>
                </a:moveTo>
                <a:lnTo>
                  <a:pt x="20716875" y="114138075"/>
                </a:lnTo>
                <a:lnTo>
                  <a:pt x="86039325" y="114138075"/>
                </a:lnTo>
                <a:cubicBezTo>
                  <a:pt x="89192100" y="114138075"/>
                  <a:pt x="92182950" y="115423950"/>
                  <a:pt x="94135575" y="117614700"/>
                </a:cubicBezTo>
                <a:cubicBezTo>
                  <a:pt x="96097725" y="119814975"/>
                  <a:pt x="96821625" y="122682000"/>
                  <a:pt x="96097725" y="125406150"/>
                </a:cubicBezTo>
                <a:lnTo>
                  <a:pt x="85086825" y="166897050"/>
                </a:lnTo>
                <a:lnTo>
                  <a:pt x="172031025" y="77466825"/>
                </a:lnTo>
                <a:lnTo>
                  <a:pt x="106708575" y="77466825"/>
                </a:lnTo>
                <a:cubicBezTo>
                  <a:pt x="103555800" y="77466825"/>
                  <a:pt x="100564950" y="76190475"/>
                  <a:pt x="98612325" y="73990200"/>
                </a:cubicBezTo>
                <a:cubicBezTo>
                  <a:pt x="96650175" y="71789925"/>
                  <a:pt x="95926275" y="68922900"/>
                  <a:pt x="96650175" y="66198750"/>
                </a:cubicBezTo>
                <a:lnTo>
                  <a:pt x="107661075" y="24707850"/>
                </a:lnTo>
                <a:close/>
                <a:moveTo>
                  <a:pt x="98888550" y="5648325"/>
                </a:moveTo>
                <a:cubicBezTo>
                  <a:pt x="111242475" y="-7067550"/>
                  <a:pt x="134540625" y="3457575"/>
                  <a:pt x="130206750" y="19792950"/>
                </a:cubicBezTo>
                <a:lnTo>
                  <a:pt x="119767350" y="59131200"/>
                </a:lnTo>
                <a:lnTo>
                  <a:pt x="172031025" y="59131200"/>
                </a:lnTo>
                <a:cubicBezTo>
                  <a:pt x="189718950" y="59131200"/>
                  <a:pt x="199243950" y="77552550"/>
                  <a:pt x="187690125" y="89439750"/>
                </a:cubicBezTo>
                <a:lnTo>
                  <a:pt x="93859350" y="185956575"/>
                </a:lnTo>
                <a:cubicBezTo>
                  <a:pt x="81505425" y="198672450"/>
                  <a:pt x="58207275" y="188147325"/>
                  <a:pt x="62541150" y="171811950"/>
                </a:cubicBezTo>
                <a:lnTo>
                  <a:pt x="72980550" y="132473700"/>
                </a:lnTo>
                <a:lnTo>
                  <a:pt x="20716875" y="132473700"/>
                </a:lnTo>
                <a:cubicBezTo>
                  <a:pt x="3028950" y="132473700"/>
                  <a:pt x="-6496050" y="114052350"/>
                  <a:pt x="5057775" y="102165150"/>
                </a:cubicBezTo>
                <a:lnTo>
                  <a:pt x="98888550" y="5648325"/>
                </a:lnTo>
                <a:close/>
              </a:path>
            </a:pathLst>
          </a:custGeom>
          <a:solidFill xmlns:a="http://schemas.openxmlformats.org/drawingml/2006/main">
            <a:srgbClr val="000000"/>
          </a:solidFill>
        </p:spPr>
      </p:sp>
      <p:sp>
        <p:nvSpPr>
          <p:cNvPr id="7" name="Google-Shape-562-p61-8">
            <a:extLst xmlns:a="http://schemas.openxmlformats.org/drawingml/2006/main">
              <a:ext uri="{FF2B5EF4-FFF2-40B4-BE49-F238E27FC236}">
                <a16:creationId xmlns:a16="http://schemas.microsoft.com/office/drawing/2014/main" id="{3809AABF-94AE-40DF-A554-A76A6E1D851B}"/>
              </a:ext>
            </a:extLst>
          </p:cNvPr>
          <p:cNvSpPr>
            <a:spLocks xmlns:a="http://schemas.openxmlformats.org/drawingml/2006/main" noGrp="1"/>
          </p:cNvSpPr>
          <p:nvPr/>
        </p:nvSpPr>
        <p:spPr>
          <a:xfrm xmlns:a="http://schemas.openxmlformats.org/drawingml/2006/main">
            <a:off x="401384" y="3378232"/>
            <a:ext cx="327089" cy="362045"/>
          </a:xfrm>
          <a:custGeom xmlns:a="http://schemas.openxmlformats.org/drawingml/2006/main">
            <a:pathLst>
              <a:path w="205740000" h="203196825">
                <a:moveTo>
                  <a:pt x="108194475" y="20288250"/>
                </a:moveTo>
                <a:cubicBezTo>
                  <a:pt x="104908350" y="18583275"/>
                  <a:pt x="100850700" y="18583275"/>
                  <a:pt x="97545525" y="20288250"/>
                </a:cubicBezTo>
                <a:lnTo>
                  <a:pt x="30956250" y="54597300"/>
                </a:lnTo>
                <a:lnTo>
                  <a:pt x="103031925" y="90773250"/>
                </a:lnTo>
                <a:lnTo>
                  <a:pt x="177098325" y="55778400"/>
                </a:lnTo>
                <a:lnTo>
                  <a:pt x="108194475" y="20288250"/>
                </a:lnTo>
                <a:close/>
                <a:moveTo>
                  <a:pt x="184442100" y="73809225"/>
                </a:moveTo>
                <a:lnTo>
                  <a:pt x="113518950" y="107318175"/>
                </a:lnTo>
                <a:lnTo>
                  <a:pt x="113518950" y="180174900"/>
                </a:lnTo>
                <a:lnTo>
                  <a:pt x="179117625" y="146370675"/>
                </a:lnTo>
                <a:cubicBezTo>
                  <a:pt x="182422800" y="144675225"/>
                  <a:pt x="184442100" y="141541500"/>
                  <a:pt x="184442100" y="138141075"/>
                </a:cubicBezTo>
                <a:lnTo>
                  <a:pt x="184442100" y="73809225"/>
                </a:lnTo>
                <a:close/>
                <a:moveTo>
                  <a:pt x="92221050" y="180174900"/>
                </a:moveTo>
                <a:lnTo>
                  <a:pt x="92221050" y="107156250"/>
                </a:lnTo>
                <a:lnTo>
                  <a:pt x="21297900" y="71561325"/>
                </a:lnTo>
                <a:lnTo>
                  <a:pt x="21297900" y="138141075"/>
                </a:lnTo>
                <a:cubicBezTo>
                  <a:pt x="21297900" y="141541500"/>
                  <a:pt x="23317200" y="144675225"/>
                  <a:pt x="26622375" y="146370675"/>
                </a:cubicBezTo>
                <a:lnTo>
                  <a:pt x="92221050" y="180174900"/>
                </a:lnTo>
                <a:close/>
                <a:moveTo>
                  <a:pt x="86896575" y="3819525"/>
                </a:moveTo>
                <a:cubicBezTo>
                  <a:pt x="96774000" y="-1266825"/>
                  <a:pt x="108966000" y="-1266825"/>
                  <a:pt x="118843425" y="3819525"/>
                </a:cubicBezTo>
                <a:lnTo>
                  <a:pt x="189766575" y="40366950"/>
                </a:lnTo>
                <a:cubicBezTo>
                  <a:pt x="199663050" y="45462825"/>
                  <a:pt x="205740000" y="54873525"/>
                  <a:pt x="205740000" y="65055750"/>
                </a:cubicBezTo>
                <a:lnTo>
                  <a:pt x="205740000" y="138141075"/>
                </a:lnTo>
                <a:cubicBezTo>
                  <a:pt x="205740000" y="148323300"/>
                  <a:pt x="199663050" y="157743525"/>
                  <a:pt x="189766575" y="162839400"/>
                </a:cubicBezTo>
                <a:lnTo>
                  <a:pt x="118843425" y="199377300"/>
                </a:lnTo>
                <a:cubicBezTo>
                  <a:pt x="108966000" y="204473175"/>
                  <a:pt x="96774000" y="204473175"/>
                  <a:pt x="86896575" y="199377300"/>
                </a:cubicBezTo>
                <a:lnTo>
                  <a:pt x="15973425" y="162839400"/>
                </a:lnTo>
                <a:cubicBezTo>
                  <a:pt x="6096000" y="157743525"/>
                  <a:pt x="0" y="148323300"/>
                  <a:pt x="0" y="138141075"/>
                </a:cubicBezTo>
                <a:lnTo>
                  <a:pt x="0" y="65055750"/>
                </a:lnTo>
                <a:cubicBezTo>
                  <a:pt x="0" y="54873525"/>
                  <a:pt x="6096000" y="45462825"/>
                  <a:pt x="15973425" y="40366950"/>
                </a:cubicBezTo>
                <a:lnTo>
                  <a:pt x="86896575" y="3819525"/>
                </a:lnTo>
                <a:close/>
              </a:path>
            </a:pathLst>
          </a:custGeom>
          <a:solidFill xmlns:a="http://schemas.openxmlformats.org/drawingml/2006/main">
            <a:srgbClr val="000000"/>
          </a:solidFill>
        </p:spPr>
      </p:sp>
      <p:sp>
        <p:nvSpPr>
          <p:cNvPr id="8" name="Google-Shape-563-p61-9">
            <a:extLst xmlns:a="http://schemas.openxmlformats.org/drawingml/2006/main">
              <a:ext uri="{FF2B5EF4-FFF2-40B4-BE49-F238E27FC236}">
                <a16:creationId xmlns:a16="http://schemas.microsoft.com/office/drawing/2014/main" id="{0335F277-0643-429F-937E-659383A62DB9}"/>
              </a:ext>
            </a:extLst>
          </p:cNvPr>
          <p:cNvSpPr>
            <a:spLocks xmlns:a="http://schemas.openxmlformats.org/drawingml/2006/main" noGrp="1"/>
          </p:cNvSpPr>
          <p:nvPr/>
        </p:nvSpPr>
        <p:spPr>
          <a:xfrm xmlns:a="http://schemas.openxmlformats.org/drawingml/2006/main">
            <a:off x="8231600" y="3406807"/>
            <a:ext cx="338614" cy="270891"/>
          </a:xfrm>
          <a:custGeom xmlns:a="http://schemas.openxmlformats.org/drawingml/2006/main">
            <a:pathLst>
              <a:path w="205740000" h="205740000">
                <a:moveTo>
                  <a:pt x="59245500" y="0"/>
                </a:moveTo>
                <a:lnTo>
                  <a:pt x="146494500" y="0"/>
                </a:lnTo>
                <a:cubicBezTo>
                  <a:pt x="154781250" y="0"/>
                  <a:pt x="161620200" y="0"/>
                  <a:pt x="167182800" y="561975"/>
                </a:cubicBezTo>
                <a:cubicBezTo>
                  <a:pt x="172964475" y="1162050"/>
                  <a:pt x="178279425" y="2428875"/>
                  <a:pt x="183270525" y="5610225"/>
                </a:cubicBezTo>
                <a:cubicBezTo>
                  <a:pt x="191023875" y="10534650"/>
                  <a:pt x="197310375" y="18402300"/>
                  <a:pt x="201253725" y="28079700"/>
                </a:cubicBezTo>
                <a:cubicBezTo>
                  <a:pt x="203796900" y="34318575"/>
                  <a:pt x="204816075" y="40967025"/>
                  <a:pt x="205282800" y="48196500"/>
                </a:cubicBezTo>
                <a:cubicBezTo>
                  <a:pt x="205740000" y="55149750"/>
                  <a:pt x="205740000" y="63703200"/>
                  <a:pt x="205740000" y="74056875"/>
                </a:cubicBezTo>
                <a:lnTo>
                  <a:pt x="205740000" y="131683125"/>
                </a:lnTo>
                <a:cubicBezTo>
                  <a:pt x="205740000" y="142036800"/>
                  <a:pt x="205740000" y="150590250"/>
                  <a:pt x="205282800" y="157543500"/>
                </a:cubicBezTo>
                <a:cubicBezTo>
                  <a:pt x="204816075" y="164772975"/>
                  <a:pt x="203796900" y="171421425"/>
                  <a:pt x="201253725" y="177660300"/>
                </a:cubicBezTo>
                <a:cubicBezTo>
                  <a:pt x="197310375" y="187337700"/>
                  <a:pt x="191023875" y="195205350"/>
                  <a:pt x="183270525" y="200129775"/>
                </a:cubicBezTo>
                <a:cubicBezTo>
                  <a:pt x="178279425" y="203311125"/>
                  <a:pt x="172964475" y="204577950"/>
                  <a:pt x="167182800" y="205178025"/>
                </a:cubicBezTo>
                <a:cubicBezTo>
                  <a:pt x="161620200" y="205740000"/>
                  <a:pt x="154781250" y="205740000"/>
                  <a:pt x="146494500" y="205740000"/>
                </a:cubicBezTo>
                <a:lnTo>
                  <a:pt x="59245500" y="205740000"/>
                </a:lnTo>
                <a:cubicBezTo>
                  <a:pt x="50958750" y="205740000"/>
                  <a:pt x="44119800" y="205740000"/>
                  <a:pt x="38557200" y="205178025"/>
                </a:cubicBezTo>
                <a:cubicBezTo>
                  <a:pt x="32775525" y="204577950"/>
                  <a:pt x="27460575" y="203311125"/>
                  <a:pt x="22469475" y="200129775"/>
                </a:cubicBezTo>
                <a:cubicBezTo>
                  <a:pt x="14716125" y="195205350"/>
                  <a:pt x="8429625" y="187337700"/>
                  <a:pt x="4486275" y="177660300"/>
                </a:cubicBezTo>
                <a:cubicBezTo>
                  <a:pt x="1943100" y="171421425"/>
                  <a:pt x="923925" y="164772975"/>
                  <a:pt x="457200" y="157543500"/>
                </a:cubicBezTo>
                <a:cubicBezTo>
                  <a:pt x="0" y="150590250"/>
                  <a:pt x="0" y="142036800"/>
                  <a:pt x="0" y="131683125"/>
                </a:cubicBezTo>
                <a:lnTo>
                  <a:pt x="0" y="74056875"/>
                </a:lnTo>
                <a:cubicBezTo>
                  <a:pt x="0" y="63703200"/>
                  <a:pt x="0" y="55149750"/>
                  <a:pt x="457200" y="48196500"/>
                </a:cubicBezTo>
                <a:cubicBezTo>
                  <a:pt x="923925" y="40967025"/>
                  <a:pt x="1943100" y="34318575"/>
                  <a:pt x="4486275" y="28079700"/>
                </a:cubicBezTo>
                <a:cubicBezTo>
                  <a:pt x="8429625" y="18402300"/>
                  <a:pt x="14716125" y="10534650"/>
                  <a:pt x="22469475" y="5610225"/>
                </a:cubicBezTo>
                <a:cubicBezTo>
                  <a:pt x="27460575" y="2428875"/>
                  <a:pt x="32775525" y="1162050"/>
                  <a:pt x="38557200" y="561975"/>
                </a:cubicBezTo>
                <a:cubicBezTo>
                  <a:pt x="44119800" y="0"/>
                  <a:pt x="50958750" y="0"/>
                  <a:pt x="59245500" y="0"/>
                </a:cubicBezTo>
                <a:close/>
                <a:moveTo>
                  <a:pt x="20574000" y="90011250"/>
                </a:moveTo>
                <a:lnTo>
                  <a:pt x="20574000" y="131159250"/>
                </a:lnTo>
                <a:cubicBezTo>
                  <a:pt x="20574000" y="142179675"/>
                  <a:pt x="20583525" y="149666325"/>
                  <a:pt x="20964525" y="155448000"/>
                </a:cubicBezTo>
                <a:cubicBezTo>
                  <a:pt x="21326475" y="161077275"/>
                  <a:pt x="21993225" y="163972875"/>
                  <a:pt x="22812375" y="165982650"/>
                </a:cubicBezTo>
                <a:cubicBezTo>
                  <a:pt x="24793575" y="170811825"/>
                  <a:pt x="27936825" y="174755175"/>
                  <a:pt x="31803975" y="177222150"/>
                </a:cubicBezTo>
                <a:cubicBezTo>
                  <a:pt x="33413700" y="178250850"/>
                  <a:pt x="35728275" y="179079525"/>
                  <a:pt x="40233600" y="179536725"/>
                </a:cubicBezTo>
                <a:cubicBezTo>
                  <a:pt x="44862750" y="180012975"/>
                  <a:pt x="50844450" y="180022500"/>
                  <a:pt x="59664600" y="180022500"/>
                </a:cubicBezTo>
                <a:lnTo>
                  <a:pt x="146075400" y="180022500"/>
                </a:lnTo>
                <a:cubicBezTo>
                  <a:pt x="154895550" y="180022500"/>
                  <a:pt x="160877250" y="180012975"/>
                  <a:pt x="165506400" y="179536725"/>
                </a:cubicBezTo>
                <a:cubicBezTo>
                  <a:pt x="170011725" y="179079525"/>
                  <a:pt x="172326300" y="178250850"/>
                  <a:pt x="173936025" y="177222150"/>
                </a:cubicBezTo>
                <a:cubicBezTo>
                  <a:pt x="177803175" y="174755175"/>
                  <a:pt x="180946425" y="170811825"/>
                  <a:pt x="182927625" y="165982650"/>
                </a:cubicBezTo>
                <a:cubicBezTo>
                  <a:pt x="183746775" y="163972875"/>
                  <a:pt x="184413525" y="161077275"/>
                  <a:pt x="184775475" y="155448000"/>
                </a:cubicBezTo>
                <a:cubicBezTo>
                  <a:pt x="185156475" y="149666325"/>
                  <a:pt x="185166000" y="142179675"/>
                  <a:pt x="185166000" y="131159250"/>
                </a:cubicBezTo>
                <a:lnTo>
                  <a:pt x="185166000" y="90011250"/>
                </a:lnTo>
                <a:lnTo>
                  <a:pt x="20574000" y="90011250"/>
                </a:lnTo>
                <a:close/>
                <a:moveTo>
                  <a:pt x="185146950" y="64293750"/>
                </a:moveTo>
                <a:cubicBezTo>
                  <a:pt x="185118375" y="58559700"/>
                  <a:pt x="185023125" y="54073425"/>
                  <a:pt x="184775475" y="50292000"/>
                </a:cubicBezTo>
                <a:cubicBezTo>
                  <a:pt x="184413525" y="44662725"/>
                  <a:pt x="183746775" y="41767125"/>
                  <a:pt x="182927625" y="39757350"/>
                </a:cubicBezTo>
                <a:cubicBezTo>
                  <a:pt x="180946425" y="34928175"/>
                  <a:pt x="177803175" y="30994350"/>
                  <a:pt x="173936025" y="28517850"/>
                </a:cubicBezTo>
                <a:cubicBezTo>
                  <a:pt x="172326300" y="27489150"/>
                  <a:pt x="170011725" y="26660475"/>
                  <a:pt x="165506400" y="26203275"/>
                </a:cubicBezTo>
                <a:cubicBezTo>
                  <a:pt x="160877250" y="25727025"/>
                  <a:pt x="154895550" y="25717500"/>
                  <a:pt x="146075400" y="25717500"/>
                </a:cubicBezTo>
                <a:lnTo>
                  <a:pt x="59664600" y="25717500"/>
                </a:lnTo>
                <a:cubicBezTo>
                  <a:pt x="50844450" y="25717500"/>
                  <a:pt x="44862750" y="25727025"/>
                  <a:pt x="40233600" y="26203275"/>
                </a:cubicBezTo>
                <a:cubicBezTo>
                  <a:pt x="35728275" y="26660475"/>
                  <a:pt x="33413700" y="27489150"/>
                  <a:pt x="31803975" y="28517850"/>
                </a:cubicBezTo>
                <a:cubicBezTo>
                  <a:pt x="27936825" y="30994350"/>
                  <a:pt x="24793575" y="34928175"/>
                  <a:pt x="22812375" y="39757350"/>
                </a:cubicBezTo>
                <a:cubicBezTo>
                  <a:pt x="21993225" y="41767125"/>
                  <a:pt x="21326475" y="44662725"/>
                  <a:pt x="20964525" y="50292000"/>
                </a:cubicBezTo>
                <a:cubicBezTo>
                  <a:pt x="20716875" y="54073425"/>
                  <a:pt x="20621625" y="58559700"/>
                  <a:pt x="20593050" y="64293750"/>
                </a:cubicBezTo>
                <a:lnTo>
                  <a:pt x="185146950" y="64293750"/>
                </a:lnTo>
                <a:close/>
                <a:moveTo>
                  <a:pt x="123444000" y="141446250"/>
                </a:moveTo>
                <a:cubicBezTo>
                  <a:pt x="123444000" y="134350125"/>
                  <a:pt x="128054100" y="128587500"/>
                  <a:pt x="133731000" y="128587500"/>
                </a:cubicBezTo>
                <a:lnTo>
                  <a:pt x="154305000" y="128587500"/>
                </a:lnTo>
                <a:cubicBezTo>
                  <a:pt x="159981900" y="128587500"/>
                  <a:pt x="164592000" y="134350125"/>
                  <a:pt x="164592000" y="141446250"/>
                </a:cubicBezTo>
                <a:cubicBezTo>
                  <a:pt x="164592000" y="148542375"/>
                  <a:pt x="159981900" y="154305000"/>
                  <a:pt x="154305000" y="154305000"/>
                </a:cubicBezTo>
                <a:lnTo>
                  <a:pt x="133731000" y="154305000"/>
                </a:lnTo>
                <a:cubicBezTo>
                  <a:pt x="128054100" y="154305000"/>
                  <a:pt x="123444000" y="148542375"/>
                  <a:pt x="123444000" y="141446250"/>
                </a:cubicBezTo>
                <a:close/>
              </a:path>
            </a:pathLst>
          </a:custGeom>
          <a:solidFill xmlns:a="http://schemas.openxmlformats.org/drawingml/2006/main">
            <a:srgbClr val="000000"/>
          </a:solidFill>
        </p:spPr>
      </p:sp>
    </p:spTree>
    <p:extLst>
      <p:ext uri="{BB962C8B-B14F-4D97-AF65-F5344CB8AC3E}">
        <p14:creationId xmlns:p14="http://schemas.microsoft.com/office/powerpoint/2010/main" val="88073374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Google-Shape-532-p58-2">
            <a:extLst xmlns:a="http://schemas.openxmlformats.org/drawingml/2006/main">
              <a:ext uri="{FF2B5EF4-FFF2-40B4-BE49-F238E27FC236}">
                <a16:creationId xmlns:a16="http://schemas.microsoft.com/office/drawing/2014/main" id="{B0789CAE-47EA-4344-A3CA-B74A20A1B16D}"/>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7</a:t>
            </a:r>
          </a:p>
        </p:txBody>
      </p:sp>
      <p:sp>
        <p:nvSpPr>
          <p:cNvPr id="2" name="Google-Shape-533-p58-3">
            <a:extLst xmlns:a="http://schemas.openxmlformats.org/drawingml/2006/main">
              <a:ext uri="{FF2B5EF4-FFF2-40B4-BE49-F238E27FC236}">
                <a16:creationId xmlns:a16="http://schemas.microsoft.com/office/drawing/2014/main" id="{434FAE14-BAC3-442C-BF81-CCAAE960D523}"/>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spcAft>
                <a:spcPts val="800"/>
              </a:spcAft>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The experimental settlement uses two NFTs and one payment asset.</a:t>
            </a:r>
          </a:p>
        </p:txBody>
      </p:sp>
      <p:sp>
        <p:nvSpPr>
          <p:cNvPr id="3" name="Rounded-Rectangle-6-4">
            <a:extLst xmlns:a="http://schemas.openxmlformats.org/drawingml/2006/main">
              <a:ext uri="{FF2B5EF4-FFF2-40B4-BE49-F238E27FC236}">
                <a16:creationId xmlns:a16="http://schemas.microsoft.com/office/drawing/2014/main" id="{0F294FD7-5C00-432B-82C9-43214A212630}"/>
              </a:ext>
            </a:extLst>
          </p:cNvPr>
          <p:cNvSpPr>
            <a:spLocks xmlns:a="http://schemas.openxmlformats.org/drawingml/2006/main" noGrp="1"/>
          </p:cNvSpPr>
          <p:nvPr/>
        </p:nvSpPr>
        <p:spPr>
          <a:xfrm xmlns:a="http://schemas.openxmlformats.org/drawingml/2006/main">
            <a:off x="6264402" y="236982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8CF9EA1A-0D9F-4494-88D2-E77A6077FC7C}"/>
              </a:ext>
            </a:extLst>
          </p:cNvPr>
          <p:cNvSpPr>
            <a:spLocks xmlns:a="http://schemas.openxmlformats.org/drawingml/2006/main" noGrp="1"/>
          </p:cNvSpPr>
          <p:nvPr/>
        </p:nvSpPr>
        <p:spPr>
          <a:xfrm xmlns:a="http://schemas.openxmlformats.org/drawingml/2006/main">
            <a:off x="6561677" y="266480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5000"/>
              </a:lnSpc>
              <a:spcAft>
                <a:spcPts val="700"/>
              </a:spcAft>
              <a:buNone/>
              <a:defRPr sz="2400">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RMCTL · Control NFT</a:t>
            </a:r>
          </a:p>
          <a:p xmlns:a="http://schemas.openxmlformats.org/drawingml/2006/main">
            <a:pPr algn="l">
              <a:lnSpc>
                <a:spcPct val="114000"/>
              </a:lnSpc>
              <a:spcAft>
                <a:spcPts val="700"/>
              </a:spcAft>
              <a:buNone/>
              <a:defRPr sz="2400">
                <a:solidFill>
                  <a:srgbClr val="000000"/>
                </a:solidFill>
                <a:latin typeface="Helvetica Neue"/>
                <a:ea typeface="Helvetica Neue"/>
                <a:cs typeface="Helvetica Neue"/>
              </a:defRPr>
            </a:pPr>
            <a:r>
              <a:rPr sz="1350">
                <a:solidFill>
                  <a:srgbClr val="000000"/>
                </a:solidFill>
                <a:latin typeface="Helvetica Neue"/>
                <a:ea typeface="Helvetica Neue"/>
                <a:cs typeface="Helvetica Neue"/>
              </a:rPr>
              <a:t>One-use execution artifact bound to the same action and authorization evidence.</a:t>
            </a:r>
          </a:p>
        </p:txBody>
      </p:sp>
      <p:sp>
        <p:nvSpPr>
          <p:cNvPr id="5" name="Rounded-Rectangle-8-6">
            <a:extLst xmlns:a="http://schemas.openxmlformats.org/drawingml/2006/main">
              <a:ext uri="{FF2B5EF4-FFF2-40B4-BE49-F238E27FC236}">
                <a16:creationId xmlns:a16="http://schemas.microsoft.com/office/drawing/2014/main" id="{00A75605-7EA7-4B6F-A76B-72E92EFB54BB}"/>
              </a:ext>
            </a:extLst>
          </p:cNvPr>
          <p:cNvSpPr>
            <a:spLocks xmlns:a="http://schemas.openxmlformats.org/drawingml/2006/main" noGrp="1"/>
          </p:cNvSpPr>
          <p:nvPr/>
        </p:nvSpPr>
        <p:spPr>
          <a:xfrm xmlns:a="http://schemas.openxmlformats.org/drawingml/2006/main">
            <a:off x="409004" y="236982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6" name="Content-Placeholder-10-7">
            <a:extLst xmlns:a="http://schemas.openxmlformats.org/drawingml/2006/main">
              <a:ext uri="{FF2B5EF4-FFF2-40B4-BE49-F238E27FC236}">
                <a16:creationId xmlns:a16="http://schemas.microsoft.com/office/drawing/2014/main" id="{F44AF9AC-83A8-42D8-BFE6-BD209494E47F}"/>
              </a:ext>
            </a:extLst>
          </p:cNvPr>
          <p:cNvSpPr>
            <a:spLocks xmlns:a="http://schemas.openxmlformats.org/drawingml/2006/main" noGrp="1"/>
          </p:cNvSpPr>
          <p:nvPr/>
        </p:nvSpPr>
        <p:spPr>
          <a:xfrm xmlns:a="http://schemas.openxmlformats.org/drawingml/2006/main">
            <a:off x="706279" y="266480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5000"/>
              </a:lnSpc>
              <a:spcAft>
                <a:spcPts val="700"/>
              </a:spcAft>
              <a:buNone/>
              <a:defRPr sz="2400">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RMPAY · Payable NFT</a:t>
            </a:r>
          </a:p>
          <a:p xmlns:a="http://schemas.openxmlformats.org/drawingml/2006/main">
            <a:pPr algn="l">
              <a:lnSpc>
                <a:spcPct val="114000"/>
              </a:lnSpc>
              <a:spcAft>
                <a:spcPts val="700"/>
              </a:spcAft>
              <a:buNone/>
              <a:defRPr sz="2400">
                <a:solidFill>
                  <a:srgbClr val="000000"/>
                </a:solidFill>
                <a:latin typeface="Helvetica Neue"/>
                <a:ea typeface="Helvetica Neue"/>
                <a:cs typeface="Helvetica Neue"/>
              </a:defRPr>
            </a:pPr>
            <a:r>
              <a:rPr sz="1350">
                <a:solidFill>
                  <a:srgbClr val="000000"/>
                </a:solidFill>
                <a:latin typeface="Helvetica Neue"/>
                <a:ea typeface="Helvetica Neue"/>
                <a:cs typeface="Helvetica Neue"/>
              </a:rPr>
              <a:t>Commits to the invoice and exact payment-action digest: what is being settled.</a:t>
            </a:r>
          </a:p>
        </p:txBody>
      </p:sp>
      <p:sp>
        <p:nvSpPr>
          <p:cNvPr id="7" name="Rounded-Rectangle-1-8">
            <a:extLst xmlns:a="http://schemas.openxmlformats.org/drawingml/2006/main">
              <a:ext uri="{FF2B5EF4-FFF2-40B4-BE49-F238E27FC236}">
                <a16:creationId xmlns:a16="http://schemas.microsoft.com/office/drawing/2014/main" id="{AFFAF5E5-EECC-4899-BCFC-DA7701782123}"/>
              </a:ext>
            </a:extLst>
          </p:cNvPr>
          <p:cNvSpPr>
            <a:spLocks xmlns:a="http://schemas.openxmlformats.org/drawingml/2006/main" noGrp="1"/>
          </p:cNvSpPr>
          <p:nvPr/>
        </p:nvSpPr>
        <p:spPr>
          <a:xfrm xmlns:a="http://schemas.openxmlformats.org/drawingml/2006/main">
            <a:off x="6264402" y="437007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8" name="Content-Placeholder-10-9">
            <a:extLst xmlns:a="http://schemas.openxmlformats.org/drawingml/2006/main">
              <a:ext uri="{FF2B5EF4-FFF2-40B4-BE49-F238E27FC236}">
                <a16:creationId xmlns:a16="http://schemas.microsoft.com/office/drawing/2014/main" id="{FA8C5124-C910-4DAE-8A56-1A57055A3301}"/>
              </a:ext>
            </a:extLst>
          </p:cNvPr>
          <p:cNvSpPr>
            <a:spLocks xmlns:a="http://schemas.openxmlformats.org/drawingml/2006/main" noGrp="1"/>
          </p:cNvSpPr>
          <p:nvPr/>
        </p:nvSpPr>
        <p:spPr>
          <a:xfrm xmlns:a="http://schemas.openxmlformats.org/drawingml/2006/main">
            <a:off x="6561677" y="466505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5000"/>
              </a:lnSpc>
              <a:spcAft>
                <a:spcPts val="700"/>
              </a:spcAft>
              <a:buNone/>
              <a:defRPr sz="2400">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HIP-551 · Atomic batch</a:t>
            </a:r>
          </a:p>
          <a:p xmlns:a="http://schemas.openxmlformats.org/drawingml/2006/main">
            <a:pPr algn="l">
              <a:lnSpc>
                <a:spcPct val="114000"/>
              </a:lnSpc>
              <a:spcAft>
                <a:spcPts val="700"/>
              </a:spcAft>
              <a:buNone/>
              <a:defRPr sz="2400">
                <a:solidFill>
                  <a:srgbClr val="000000"/>
                </a:solidFill>
                <a:latin typeface="Helvetica Neue"/>
                <a:ea typeface="Helvetica Neue"/>
                <a:cs typeface="Helvetica Neue"/>
              </a:defRPr>
            </a:pPr>
            <a:r>
              <a:rPr sz="1350">
                <a:solidFill>
                  <a:srgbClr val="000000"/>
                </a:solidFill>
                <a:latin typeface="Helvetica Neue"/>
                <a:ea typeface="Helvetica Neue"/>
                <a:cs typeface="Helvetica Neue"/>
              </a:rPr>
              <a:t>Transfer exact RMEURT, return and burn both NFTs, then commit the digest — all or none.</a:t>
            </a:r>
          </a:p>
        </p:txBody>
      </p:sp>
      <p:sp>
        <p:nvSpPr>
          <p:cNvPr id="9" name="Rounded-Rectangle-3-10">
            <a:extLst xmlns:a="http://schemas.openxmlformats.org/drawingml/2006/main">
              <a:ext uri="{FF2B5EF4-FFF2-40B4-BE49-F238E27FC236}">
                <a16:creationId xmlns:a16="http://schemas.microsoft.com/office/drawing/2014/main" id="{4B3CF1C6-24ED-45A4-B54F-4DF7D4FAE484}"/>
              </a:ext>
            </a:extLst>
          </p:cNvPr>
          <p:cNvSpPr>
            <a:spLocks xmlns:a="http://schemas.openxmlformats.org/drawingml/2006/main" noGrp="1"/>
          </p:cNvSpPr>
          <p:nvPr/>
        </p:nvSpPr>
        <p:spPr>
          <a:xfrm xmlns:a="http://schemas.openxmlformats.org/drawingml/2006/main">
            <a:off x="409004" y="437007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10" name="Content-Placeholder-10-11">
            <a:extLst xmlns:a="http://schemas.openxmlformats.org/drawingml/2006/main">
              <a:ext uri="{FF2B5EF4-FFF2-40B4-BE49-F238E27FC236}">
                <a16:creationId xmlns:a16="http://schemas.microsoft.com/office/drawing/2014/main" id="{8CB4B61A-57B6-4817-A087-462AB3C86B16}"/>
              </a:ext>
            </a:extLst>
          </p:cNvPr>
          <p:cNvSpPr>
            <a:spLocks xmlns:a="http://schemas.openxmlformats.org/drawingml/2006/main" noGrp="1"/>
          </p:cNvSpPr>
          <p:nvPr/>
        </p:nvSpPr>
        <p:spPr>
          <a:xfrm xmlns:a="http://schemas.openxmlformats.org/drawingml/2006/main">
            <a:off x="706279" y="466505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5000"/>
              </a:lnSpc>
              <a:spcAft>
                <a:spcPts val="700"/>
              </a:spcAft>
              <a:buNone/>
              <a:defRPr sz="2400">
                <a:solidFill>
                  <a:srgbClr val="000000"/>
                </a:solidFill>
                <a:latin typeface="Helvetica Neue"/>
                <a:ea typeface="Helvetica Neue"/>
                <a:cs typeface="Helvetica Neue"/>
              </a:defRPr>
            </a:pPr>
            <a:r>
              <a:rPr sz="1650" b="1">
                <a:solidFill>
                  <a:srgbClr val="000000"/>
                </a:solidFill>
                <a:latin typeface="Helvetica Neue"/>
                <a:ea typeface="Helvetica Neue"/>
                <a:cs typeface="Helvetica Neue"/>
              </a:rPr>
              <a:t>RMEURT · Settlement token</a:t>
            </a:r>
          </a:p>
          <a:p xmlns:a="http://schemas.openxmlformats.org/drawingml/2006/main">
            <a:pPr algn="l">
              <a:lnSpc>
                <a:spcPct val="114000"/>
              </a:lnSpc>
              <a:spcAft>
                <a:spcPts val="700"/>
              </a:spcAft>
              <a:buNone/>
              <a:defRPr sz="2400">
                <a:solidFill>
                  <a:srgbClr val="000000"/>
                </a:solidFill>
                <a:latin typeface="Helvetica Neue"/>
                <a:ea typeface="Helvetica Neue"/>
                <a:cs typeface="Helvetica Neue"/>
              </a:defRPr>
            </a:pPr>
            <a:r>
              <a:rPr sz="1350">
                <a:solidFill>
                  <a:srgbClr val="000000"/>
                </a:solidFill>
                <a:latin typeface="Helvetica Neue"/>
                <a:ea typeface="Helvetica Neue"/>
                <a:cs typeface="Helvetica Neue"/>
              </a:rPr>
              <a:t>Synthetic two-decimal fungible asset. This is what actually moves between accounts.</a:t>
            </a:r>
          </a:p>
        </p:txBody>
      </p:sp>
      <p:sp>
        <p:nvSpPr>
          <p:cNvPr id="11" name="Content-Placeholder-15-12">
            <a:extLst xmlns:a="http://schemas.openxmlformats.org/drawingml/2006/main">
              <a:ext uri="{FF2B5EF4-FFF2-40B4-BE49-F238E27FC236}">
                <a16:creationId xmlns:a16="http://schemas.microsoft.com/office/drawing/2014/main" id="{220BA83F-0865-4E9C-A9F1-6168487FB28C}"/>
              </a:ext>
            </a:extLst>
          </p:cNvPr>
          <p:cNvSpPr>
            <a:spLocks xmlns:a="http://schemas.openxmlformats.org/drawingml/2006/main" noGrp="1"/>
          </p:cNvSpPr>
          <p:nvPr/>
        </p:nvSpPr>
        <p:spPr>
          <a:xfrm xmlns:a="http://schemas.openxmlformats.org/drawingml/2006/main">
            <a:off x="400907" y="1057466"/>
            <a:ext cx="11404568" cy="101222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5000"/>
              </a:lnSpc>
              <a:spcAft>
                <a:spcPts val="700"/>
              </a:spcAft>
              <a:buNone/>
              <a:defRPr sz="1600">
                <a:solidFill>
                  <a:srgbClr val="000000"/>
                </a:solidFill>
                <a:latin typeface="Helvetica Neue"/>
                <a:ea typeface="Helvetica Neue"/>
                <a:cs typeface="Helvetica Neue"/>
              </a:defRPr>
            </a:pPr>
            <a:r>
              <a:rPr sz="1725" b="1">
                <a:solidFill>
                  <a:srgbClr val="000000"/>
                </a:solidFill>
                <a:latin typeface="Helvetica Neue"/>
                <a:ea typeface="Helvetica Neue"/>
                <a:cs typeface="Helvetica Neue"/>
              </a:rPr>
              <a:t>Atomic means the whole settlement succeeds — or none of it does.</a:t>
            </a:r>
          </a:p>
          <a:p xmlns:a="http://schemas.openxmlformats.org/drawingml/2006/main">
            <a:pPr algn="l">
              <a:lnSpc>
                <a:spcPct val="114000"/>
              </a:lnSpc>
              <a:spcAft>
                <a:spcPts val="700"/>
              </a:spcAft>
              <a:buNone/>
              <a:defRPr sz="1600">
                <a:solidFill>
                  <a:srgbClr val="000000"/>
                </a:solidFill>
                <a:latin typeface="Helvetica Neue"/>
                <a:ea typeface="Helvetica Neue"/>
                <a:cs typeface="Helvetica Neue"/>
              </a:defRPr>
            </a:pPr>
            <a:r>
              <a:rPr sz="1350">
                <a:solidFill>
                  <a:srgbClr val="000000"/>
                </a:solidFill>
                <a:latin typeface="Helvetica Neue"/>
                <a:ea typeface="Helvetica Neue"/>
                <a:cs typeface="Helvetica Neue"/>
              </a:rPr>
              <a:t>Hedera Testnet mechanism proof · synthetic value · not a production payment rail.</a:t>
            </a:r>
          </a:p>
        </p:txBody>
      </p:sp>
    </p:spTree>
    <p:extLst>
      <p:ext uri="{BB962C8B-B14F-4D97-AF65-F5344CB8AC3E}">
        <p14:creationId xmlns:p14="http://schemas.microsoft.com/office/powerpoint/2010/main" val="63421024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Google-Shape-532-p58-2">
            <a:extLst xmlns:a="http://schemas.openxmlformats.org/drawingml/2006/main">
              <a:ext uri="{FF2B5EF4-FFF2-40B4-BE49-F238E27FC236}">
                <a16:creationId xmlns:a16="http://schemas.microsoft.com/office/drawing/2014/main" id="{657306CD-EBB3-49A8-96AA-15B87DF24292}"/>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8</a:t>
            </a:r>
          </a:p>
        </p:txBody>
      </p:sp>
      <p:sp>
        <p:nvSpPr>
          <p:cNvPr id="2" name="Google-Shape-533-p58-3">
            <a:extLst xmlns:a="http://schemas.openxmlformats.org/drawingml/2006/main">
              <a:ext uri="{FF2B5EF4-FFF2-40B4-BE49-F238E27FC236}">
                <a16:creationId xmlns:a16="http://schemas.microsoft.com/office/drawing/2014/main" id="{EDA6F91B-B497-4395-8487-080BCC19EB2F}"/>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spcAft>
                <a:spcPts val="800"/>
              </a:spcAft>
              <a:buNone/>
              <a:defRPr sz="2900">
                <a:solidFill>
                  <a:srgbClr val="000000"/>
                </a:solidFill>
                <a:latin typeface="Helvetica Neue"/>
                <a:ea typeface="Helvetica Neue"/>
                <a:cs typeface="Helvetica Neue"/>
              </a:defRPr>
            </a:pPr>
            <a:r>
              <a:rPr sz="2900">
                <a:solidFill>
                  <a:srgbClr val="000000"/>
                </a:solidFill>
                <a:latin typeface="Helvetica Neue"/>
                <a:ea typeface="Helvetica Neue"/>
                <a:cs typeface="Helvetica Neue"/>
              </a:rPr>
              <a:t>Each sponsor is load-bearing for a different reason.</a:t>
            </a:r>
          </a:p>
        </p:txBody>
      </p:sp>
      <p:sp>
        <p:nvSpPr>
          <p:cNvPr id="3" name="Google-Shape-534-p58-4">
            <a:extLst xmlns:a="http://schemas.openxmlformats.org/drawingml/2006/main">
              <a:ext uri="{FF2B5EF4-FFF2-40B4-BE49-F238E27FC236}">
                <a16:creationId xmlns:a16="http://schemas.microsoft.com/office/drawing/2014/main" id="{4F8CAA34-EA4A-4CCD-9410-01B09B4069C6}"/>
              </a:ext>
            </a:extLst>
          </p:cNvPr>
          <p:cNvSpPr>
            <a:spLocks xmlns:a="http://schemas.openxmlformats.org/drawingml/2006/main" noGrp="1"/>
          </p:cNvSpPr>
          <p:nvPr/>
        </p:nvSpPr>
        <p:spPr>
          <a:xfrm xmlns:a="http://schemas.openxmlformats.org/drawingml/2006/main">
            <a:off x="393668" y="3365468"/>
            <a:ext cx="3568732" cy="26289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spcAft>
                <a:spcPts val="700"/>
              </a:spcAft>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ENS
Find the agent</a:t>
            </a:r>
          </a:p>
          <a:p xmlns:a="http://schemas.openxmlformats.org/drawingml/2006/main">
            <a:pPr algn="l">
              <a:lnSpc>
                <a:spcPct val="114000"/>
              </a:lnSpc>
              <a:spcAft>
                <a:spcPts val="700"/>
              </a:spcAft>
              <a:buNone/>
              <a:defRPr sz="2400">
                <a:solidFill>
                  <a:srgbClr val="000000"/>
                </a:solidFill>
                <a:latin typeface="Helvetica Neue"/>
                <a:ea typeface="Helvetica Neue"/>
                <a:cs typeface="Helvetica Neue"/>
              </a:defRPr>
            </a:pPr>
            <a:r>
              <a:rPr sz="1425">
                <a:solidFill>
                  <a:srgbClr val="000000"/>
                </a:solidFill>
                <a:latin typeface="Helvetica Neue"/>
                <a:ea typeface="Helvetica Neue"/>
                <a:cs typeface="Helvetica Neue"/>
              </a:rPr>
              <a:t>Readable names and forward/reverse resolution make agent wallets discoverable. ENS never grants authority.</a:t>
            </a:r>
          </a:p>
        </p:txBody>
      </p:sp>
      <p:sp>
        <p:nvSpPr>
          <p:cNvPr id="4" name="Content-Placeholder-1-5">
            <a:extLst xmlns:a="http://schemas.openxmlformats.org/drawingml/2006/main">
              <a:ext uri="{FF2B5EF4-FFF2-40B4-BE49-F238E27FC236}">
                <a16:creationId xmlns:a16="http://schemas.microsoft.com/office/drawing/2014/main" id="{FFAA6338-D4DC-4107-9CEB-40AED7F120A9}"/>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5000"/>
              </a:lnSpc>
              <a:spcAft>
                <a:spcPts val="700"/>
              </a:spcAft>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HEDERA
Enforce the effect</a:t>
            </a:r>
          </a:p>
          <a:p xmlns:a="http://schemas.openxmlformats.org/drawingml/2006/main">
            <a:pPr algn="l">
              <a:lnSpc>
                <a:spcPct val="114000"/>
              </a:lnSpc>
              <a:spcAft>
                <a:spcPts val="700"/>
              </a:spcAft>
              <a:buNone/>
              <a:defRPr sz="2400">
                <a:solidFill>
                  <a:srgbClr val="000000"/>
                </a:solidFill>
                <a:latin typeface="Helvetica Neue"/>
                <a:ea typeface="Helvetica Neue"/>
                <a:cs typeface="Helvetica Neue"/>
              </a:defRPr>
            </a:pPr>
            <a:r>
              <a:rPr sz="1425">
                <a:solidFill>
                  <a:srgbClr val="000000"/>
                </a:solidFill>
                <a:latin typeface="Helvetica Neue"/>
                <a:ea typeface="Helvetica Neue"/>
                <a:cs typeface="Helvetica Neue"/>
              </a:rPr>
              <a:t>Atomic settlement, consensus receipts, token consumption, and Mirror evidence make execution exact and auditable.</a:t>
            </a:r>
          </a:p>
        </p:txBody>
      </p:sp>
      <p:sp>
        <p:nvSpPr>
          <p:cNvPr id="5" name="Content-Placeholder-2-6">
            <a:extLst xmlns:a="http://schemas.openxmlformats.org/drawingml/2006/main">
              <a:ext uri="{FF2B5EF4-FFF2-40B4-BE49-F238E27FC236}">
                <a16:creationId xmlns:a16="http://schemas.microsoft.com/office/drawing/2014/main" id="{8BF5BD24-6986-4663-8798-2FE04AD5715A}"/>
              </a:ext>
            </a:extLst>
          </p:cNvPr>
          <p:cNvSpPr>
            <a:spLocks xmlns:a="http://schemas.openxmlformats.org/drawingml/2006/main" noGrp="1"/>
          </p:cNvSpPr>
          <p:nvPr/>
        </p:nvSpPr>
        <p:spPr>
          <a:xfrm xmlns:a="http://schemas.openxmlformats.org/drawingml/2006/main">
            <a:off x="4311682" y="3365468"/>
            <a:ext cx="3568732" cy="262890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lnSpc>
                <a:spcPct val="105000"/>
              </a:lnSpc>
              <a:spcAft>
                <a:spcPts val="700"/>
              </a:spcAft>
              <a:buNone/>
              <a:defRPr sz="2400">
                <a:solidFill>
                  <a:srgbClr val="000000"/>
                </a:solidFill>
                <a:latin typeface="Helvetica Neue"/>
                <a:ea typeface="Helvetica Neue"/>
                <a:cs typeface="Helvetica Neue"/>
              </a:defRPr>
            </a:pPr>
            <a:r>
              <a:rPr sz="1800" b="1">
                <a:solidFill>
                  <a:srgbClr val="000000"/>
                </a:solidFill>
                <a:latin typeface="Helvetica Neue"/>
                <a:ea typeface="Helvetica Neue"/>
                <a:cs typeface="Helvetica Neue"/>
              </a:rPr>
              <a:t>WORLD
Count the human</a:t>
            </a:r>
          </a:p>
          <a:p xmlns:a="http://schemas.openxmlformats.org/drawingml/2006/main">
            <a:pPr algn="l">
              <a:lnSpc>
                <a:spcPct val="114000"/>
              </a:lnSpc>
              <a:spcAft>
                <a:spcPts val="700"/>
              </a:spcAft>
              <a:buNone/>
              <a:defRPr sz="2400">
                <a:solidFill>
                  <a:srgbClr val="000000"/>
                </a:solidFill>
                <a:latin typeface="Helvetica Neue"/>
                <a:ea typeface="Helvetica Neue"/>
                <a:cs typeface="Helvetica Neue"/>
              </a:defRPr>
            </a:pPr>
            <a:r>
              <a:rPr sz="1425">
                <a:solidFill>
                  <a:srgbClr val="000000"/>
                </a:solidFill>
                <a:latin typeface="Helvetica Neue"/>
                <a:ea typeface="Helvetica Neue"/>
                <a:cs typeface="Helvetica Neue"/>
              </a:rPr>
              <a:t>AgentBook and action-time proof prevent one person with multiple agents from filling multiple quorum slots.</a:t>
            </a:r>
          </a:p>
        </p:txBody>
      </p:sp>
    </p:spTree>
    <p:extLst>
      <p:ext uri="{BB962C8B-B14F-4D97-AF65-F5344CB8AC3E}">
        <p14:creationId xmlns:p14="http://schemas.microsoft.com/office/powerpoint/2010/main" val="182847615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F76DEBB4-BAA5-4D5F-A55A-0BFA77F49E23}"/>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lnSpc>
                <a:spcPct val="90000"/>
              </a:lnSpc>
              <a:spcAft>
                <a:spcPts val="800"/>
              </a:spcAft>
              <a:buNone/>
              <a:defRPr sz="6000">
                <a:solidFill>
                  <a:srgbClr val="000000"/>
                </a:solidFill>
                <a:latin typeface="Helvetica Neue"/>
                <a:ea typeface="Helvetica Neue"/>
                <a:cs typeface="Helvetica Neue"/>
              </a:defRPr>
            </a:pPr>
            <a:r>
              <a:rPr sz="5400">
                <a:solidFill>
                  <a:srgbClr val="000000"/>
                </a:solidFill>
                <a:latin typeface="Helvetica Neue"/>
                <a:ea typeface="Helvetica Neue"/>
                <a:cs typeface="Helvetica Neue"/>
              </a:rPr>
              <a:t>Autonomy for the routine.
Hard stops for the risky.</a:t>
            </a:r>
          </a:p>
        </p:txBody>
      </p:sp>
      <p:sp>
        <p:nvSpPr>
          <p:cNvPr id="2" name="Subtitle-4-2">
            <a:extLst xmlns:a="http://schemas.openxmlformats.org/drawingml/2006/main">
              <a:ext uri="{FF2B5EF4-FFF2-40B4-BE49-F238E27FC236}">
                <a16:creationId xmlns:a16="http://schemas.microsoft.com/office/drawing/2014/main" id="{6A520C83-FADD-4962-837E-586804EC8180}"/>
              </a:ext>
            </a:extLst>
          </p:cNvPr>
          <p:cNvSpPr>
            <a:spLocks xmlns:a="http://schemas.openxmlformats.org/drawingml/2006/main" noGrp="1"/>
          </p:cNvSpPr>
          <p:nvPr/>
        </p:nvSpPr>
        <p:spPr>
          <a:xfrm xmlns:a="http://schemas.openxmlformats.org/drawingml/2006/main">
            <a:off x="393668" y="4973288"/>
            <a:ext cx="35687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0000"/>
              </a:lnSpc>
              <a:spcBef>
                <a:spcPts val="1000"/>
              </a:spcBef>
              <a:spcAft>
                <a:spcPts val="800"/>
              </a:spcAft>
              <a:buNone/>
              <a:defRPr sz="24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Live product demo · remithq.xyz</a:t>
            </a:r>
          </a:p>
          <a:p xmlns:a="http://schemas.openxmlformats.org/drawingml/2006/main">
            <a:pPr algn="l">
              <a:lnSpc>
                <a:spcPct val="90000"/>
              </a:lnSpc>
              <a:spcBef>
                <a:spcPts val="1000"/>
              </a:spcBef>
              <a:spcAft>
                <a:spcPts val="800"/>
              </a:spcAft>
              <a:buNone/>
              <a:defRPr sz="24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Live Hedera Testnet evidence</a:t>
            </a:r>
          </a:p>
          <a:p xmlns:a="http://schemas.openxmlformats.org/drawingml/2006/main">
            <a:pPr algn="l">
              <a:lnSpc>
                <a:spcPct val="90000"/>
              </a:lnSpc>
              <a:spcBef>
                <a:spcPts val="1000"/>
              </a:spcBef>
              <a:spcAft>
                <a:spcPts val="800"/>
              </a:spcAft>
              <a:buNone/>
              <a:defRPr sz="24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Experimental dual-token settlement</a:t>
            </a:r>
          </a:p>
        </p:txBody>
      </p:sp>
      <p:sp>
        <p:nvSpPr>
          <p:cNvPr id="3" name="Subtitle-4-3">
            <a:extLst xmlns:a="http://schemas.openxmlformats.org/drawingml/2006/main">
              <a:ext uri="{FF2B5EF4-FFF2-40B4-BE49-F238E27FC236}">
                <a16:creationId xmlns:a16="http://schemas.microsoft.com/office/drawing/2014/main" id="{9503083A-57E8-4AF6-8D11-4BF97D9B4AC8}"/>
              </a:ext>
            </a:extLst>
          </p:cNvPr>
          <p:cNvSpPr>
            <a:spLocks xmlns:a="http://schemas.openxmlformats.org/drawingml/2006/main" noGrp="1"/>
          </p:cNvSpPr>
          <p:nvPr/>
        </p:nvSpPr>
        <p:spPr>
          <a:xfrm xmlns:a="http://schemas.openxmlformats.org/drawingml/2006/main">
            <a:off x="393668" y="392240"/>
            <a:ext cx="1612868"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90000"/>
              </a:lnSpc>
              <a:spcBef>
                <a:spcPts val="1000"/>
              </a:spcBef>
              <a:spcAft>
                <a:spcPts val="800"/>
              </a:spcAft>
              <a:buNone/>
              <a:defRPr sz="2400">
                <a:solidFill>
                  <a:srgbClr val="000000"/>
                </a:solidFill>
                <a:latin typeface="Helvetica Neue"/>
                <a:ea typeface="Helvetica Neue"/>
                <a:cs typeface="Helvetica Neue"/>
              </a:defRPr>
            </a:pPr>
            <a:r>
              <a:rPr sz="1800">
                <a:solidFill>
                  <a:srgbClr val="000000"/>
                </a:solidFill>
                <a:latin typeface="Helvetica Neue"/>
                <a:ea typeface="Helvetica Neue"/>
                <a:cs typeface="Helvetica Neue"/>
              </a:rPr>
              <a:t>REMIT</a:t>
            </a:r>
          </a:p>
        </p:txBody>
      </p:sp>
    </p:spTree>
    <p:extLst>
      <p:ext uri="{BB962C8B-B14F-4D97-AF65-F5344CB8AC3E}">
        <p14:creationId xmlns:p14="http://schemas.microsoft.com/office/powerpoint/2010/main" val="9351052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2026-07-26T09:44:23.6690000Z</dcterms:created>
  <dcterms:modified xsi:type="dcterms:W3CDTF">2026-07-26T09:44:23.6690000Z</dcterms:modified>
</coreProperties>
</file>