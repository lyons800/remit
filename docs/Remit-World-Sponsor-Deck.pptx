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5b90d4a2b4bef" /><Relationship Type="http://schemas.openxmlformats.org/officeDocument/2006/relationships/extended-properties" Target="/docProps/app.xml" Id="R27760c37162b4954" /><Relationship Type="http://schemas.openxmlformats.org/officeDocument/2006/relationships/officeDocument" Target="/ppt/presentation.xml" Id="R15c3e67672054b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e84544ce944109"/>
  </p:sldMasterIdLst>
  <p:notesMasterIdLst>
    <p:notesMasterId xmlns:r="http://schemas.openxmlformats.org/officeDocument/2006/relationships" r:id="R39e5802d5a4f41a8"/>
  </p:notesMasterIdLst>
  <p:sldIdLst>
    <p:sldId xmlns:r="http://schemas.openxmlformats.org/officeDocument/2006/relationships" id="256" r:id="R28698538754e4445"/>
    <p:sldId xmlns:r="http://schemas.openxmlformats.org/officeDocument/2006/relationships" id="257" r:id="R3b6f22d6c8de4801"/>
    <p:sldId xmlns:r="http://schemas.openxmlformats.org/officeDocument/2006/relationships" id="258" r:id="Rc9c78ae884904b0a"/>
    <p:sldId xmlns:r="http://schemas.openxmlformats.org/officeDocument/2006/relationships" id="259" r:id="Rd5e506c201484ce4"/>
    <p:sldId xmlns:r="http://schemas.openxmlformats.org/officeDocument/2006/relationships" id="260" r:id="R1462b9e38fb24584"/>
    <p:sldId xmlns:r="http://schemas.openxmlformats.org/officeDocument/2006/relationships" id="261" r:id="R405ceae4d0ec45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10ae0be1ff4243" /><Relationship Type="http://schemas.openxmlformats.org/officeDocument/2006/relationships/slideMaster" Target="/ppt/slideMasters/slideMaster1.xml" Id="R52e84544ce944109" /><Relationship Type="http://schemas.openxmlformats.org/officeDocument/2006/relationships/notesMaster" Target="/ppt/notesMasters/notesMaster1.xml" Id="R39e5802d5a4f41a8" /><Relationship Type="http://schemas.openxmlformats.org/officeDocument/2006/relationships/presProps" Target="/ppt/presProps.xml" Id="Rbc6544d5a832487b" /><Relationship Type="http://schemas.openxmlformats.org/officeDocument/2006/relationships/tableStyles" Target="/ppt/tableStyles.xml" Id="R22b1a6cb849641d3" /><Relationship Type="http://schemas.openxmlformats.org/officeDocument/2006/relationships/slide" Target="/ppt/slides/slide1.xml" Id="R28698538754e4445" /><Relationship Type="http://schemas.openxmlformats.org/officeDocument/2006/relationships/slide" Target="/ppt/slides/slide2.xml" Id="R3b6f22d6c8de4801" /><Relationship Type="http://schemas.openxmlformats.org/officeDocument/2006/relationships/slide" Target="/ppt/slides/slide3.xml" Id="Rc9c78ae884904b0a" /><Relationship Type="http://schemas.openxmlformats.org/officeDocument/2006/relationships/slide" Target="/ppt/slides/slide4.xml" Id="Rd5e506c201484ce4" /><Relationship Type="http://schemas.openxmlformats.org/officeDocument/2006/relationships/slide" Target="/ppt/slides/slide5.xml" Id="R1462b9e38fb24584" /><Relationship Type="http://schemas.openxmlformats.org/officeDocument/2006/relationships/slide" Target="/ppt/slides/slide6.xml" Id="R405ceae4d0ec45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665d9275ff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3a65df0b86457f" /><Relationship Type="http://schemas.openxmlformats.org/officeDocument/2006/relationships/notesMaster" Target="/ppt/notesMasters/notesMaster1.xml" Id="R49b29500a43740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0a48189604f6e" /><Relationship Type="http://schemas.openxmlformats.org/officeDocument/2006/relationships/notesMaster" Target="/ppt/notesMasters/notesMaster1.xml" Id="R42ce63a901074b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b40dfd73dc4504" /><Relationship Type="http://schemas.openxmlformats.org/officeDocument/2006/relationships/notesMaster" Target="/ppt/notesMasters/notesMaster1.xml" Id="R73f440867e024e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b5b549d914646" /><Relationship Type="http://schemas.openxmlformats.org/officeDocument/2006/relationships/notesMaster" Target="/ppt/notesMasters/notesMaster1.xml" Id="Raa84509768354a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205c87fc09417e" /><Relationship Type="http://schemas.openxmlformats.org/officeDocument/2006/relationships/notesMaster" Target="/ppt/notesMasters/notesMaster1.xml" Id="Raefd8304f9b144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4e14333ce94476" /><Relationship Type="http://schemas.openxmlformats.org/officeDocument/2006/relationships/notesMaster" Target="/ppt/notesMasters/notesMaster1.xml" Id="Rc51b62924c3649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Remit uses World to make agent accountability and exception approval human-based rather than account-based.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/Users/oisinlyons/Documents/Codex/2026-07-24/okay-so-i-have-a-hackathon/worktrees/remit-main/README.md</a:t>
            </a:r>
          </a:p>
          <a:p xmlns:a="http://schemas.openxmlformats.org/drawingml/2006/main">
            <a:r>
              <a:t>- /Users/oisinlyons/Documents/Codex/2026-07-24/okay-so-i-have-a-hackathon/worktrees/remit-main/docs/sponsors/WORLD.md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control problem is not whether two signatures exist; it is whether two distinct humans are accountable.</a:t>
            </a:r>
          </a:p>
          <a:p xmlns:a="http://schemas.openxmlformats.org/drawingml/2006/main">
            <a:r>
              <a:t>AgentBook provides the anonymous backing relationship used to collapse multiple wallets from one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/Users/oisinlyons/Documents/Codex/2026-07-24/okay-so-i-have-a-hackathon/worktrees/remit-main/README.md</a:t>
            </a:r>
          </a:p>
          <a:p xmlns:a="http://schemas.openxmlformats.org/drawingml/2006/main">
            <a:r>
              <a:t>- /Users/oisinlyons/Documents/Codex/2026-07-24/okay-so-i-have-a-hackathon/worktrees/remit-main/docs/sponsors/WORLD.md</a:t>
            </a:r>
          </a:p>
          <a:p xmlns:a="http://schemas.openxmlformats.org/drawingml/2006/main">
            <a:r>
              <a:t>- /Users/oisinlyons/Documents/Codex/2026-07-24/okay-so-i-have-a-hackathon/worktrees/remit-main/packages/world-adapter/test/agentbook.test.ts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World is load-bearing, but it does not grant company employment or treasury authority.</a:t>
            </a:r>
          </a:p>
          <a:p xmlns:a="http://schemas.openxmlformats.org/drawingml/2006/main">
            <a:r>
              <a:t>Remit combines World human backing with company-issued roles and action-specific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/Users/oisinlyons/Documents/Codex/2026-07-24/okay-so-i-have-a-hackathon/worktrees/remit-main/README.md</a:t>
            </a:r>
          </a:p>
          <a:p xmlns:a="http://schemas.openxmlformats.org/drawingml/2006/main">
            <a:r>
              <a:t>- /Users/oisinlyons/Documents/Codex/2026-07-24/okay-so-i-have-a-hackathon/worktrees/remit-main/docs/product/PRODUCT-BRIEF.md</a:t>
            </a:r>
          </a:p>
          <a:p xmlns:a="http://schemas.openxmlformats.org/drawingml/2006/main">
            <a:r>
              <a:t>- /Users/oisinlyons/Documents/Codex/2026-07-24/okay-so-i-have-a-hackathon/worktrees/remit-main/docs/sponsors/WORLD.md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action identifier is shared across all approval slots so one human cannot receive a different action-scoped identity per role.</a:t>
            </a:r>
          </a:p>
          <a:p xmlns:a="http://schemas.openxmlformats.org/drawingml/2006/main">
            <a:r>
              <a:t>Routine invoices inside a standing mandate do not manufacture per-invoice human ceremony.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/Users/oisinlyons/Documents/Codex/2026-07-24/okay-so-i-have-a-hackathon/worktrees/remit-main/docs/product/PRODUCT-BRIEF.md</a:t>
            </a:r>
          </a:p>
          <a:p xmlns:a="http://schemas.openxmlformats.org/drawingml/2006/main">
            <a:r>
              <a:t>- /Users/oisinlyons/Documents/Codex/2026-07-24/okay-so-i-have-a-hackathon/worktrees/remit-main/docs/sponsors/WORLD.md</a:t>
            </a:r>
          </a:p>
          <a:p xmlns:a="http://schemas.openxmlformats.org/drawingml/2006/main">
            <a:r>
              <a:t>- /Users/oisinlyons/Documents/Codex/2026-07-24/okay-so-i-have-a-hackathon/worktrees/remit-main/packages/world-adapter/test/human-approval.test.ts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decisive sponsor-specific example.</a:t>
            </a:r>
          </a:p>
          <a:p xmlns:a="http://schemas.openxmlformats.org/drawingml/2006/main">
            <a:r>
              <a:t>The adapter also checks exact action, signal, role, expiry, deployment and evidence provenance before admitting an approval 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/Users/oisinlyons/Documents/Codex/2026-07-24/okay-so-i-have-a-hackathon/worktrees/remit-main/docs/sponsors/WORLD.md</a:t>
            </a:r>
          </a:p>
          <a:p xmlns:a="http://schemas.openxmlformats.org/drawingml/2006/main">
            <a:r>
              <a:t>- /Users/oisinlyons/Documents/Codex/2026-07-24/okay-so-i-have-a-hackathon/worktrees/remit-main/packages/world-adapter/test/agentbook.test.ts</a:t>
            </a:r>
          </a:p>
          <a:p xmlns:a="http://schemas.openxmlformats.org/drawingml/2006/main">
            <a:r>
              <a:t>- /Users/oisinlyons/Documents/Codex/2026-07-24/okay-so-i-have-a-hackathon/worktrees/remit-main/packages/world-adapter/test/human-approval.test.ts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closing message is sponsor-specific: World changes a payment from authorized to refused when the human quorum is not genuinely distinct.</a:t>
            </a:r>
          </a:p>
          <a:p xmlns:a="http://schemas.openxmlformats.org/drawingml/2006/main">
            <a:r>
              <a:t>Do not claim live World humans in the current committed evidence bundle.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/Users/oisinlyons/Documents/Codex/2026-07-24/okay-so-i-have-a-hackathon/worktrees/remit-main/docs/sponsors/WORLD.md</a:t>
            </a:r>
          </a:p>
          <a:p xmlns:a="http://schemas.openxmlformats.org/drawingml/2006/main">
            <a:r>
              <a:t>- /Users/oisinlyons/Documents/Codex/2026-07-24/okay-so-i-have-a-hackathon/worktrees/remit-main/README.md</a:t>
            </a:r>
          </a:p>
          <a:p xmlns:a="http://schemas.openxmlformats.org/drawingml/2006/main">
            <a:r>
              <a:t>- /Users/oisinlyons/Documents/Codex/2026-07-24/okay-so-i-have-a-hackathon/worktrees/remit-main/docs/product/PRODUCT-BRIEF.md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24f7161ba49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73a3c1befe4ba7" /><Relationship Type="http://schemas.openxmlformats.org/officeDocument/2006/relationships/slideLayout" Target="/ppt/slideLayouts/slideLayout1.xml" Id="Rb786ccc7077244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86ccc7077244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b488d97234205" /><Relationship Type="http://schemas.openxmlformats.org/officeDocument/2006/relationships/notesSlide" Target="/ppt/notesSlides/notesSlide1.xml" Id="R5089ca1f4e0d47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d632fa2b54bfc" /><Relationship Type="http://schemas.openxmlformats.org/officeDocument/2006/relationships/notesSlide" Target="/ppt/notesSlides/notesSlide2.xml" Id="Rc5fe97e89926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4a4fe301e48bd" /><Relationship Type="http://schemas.openxmlformats.org/officeDocument/2006/relationships/notesSlide" Target="/ppt/notesSlides/notesSlide3.xml" Id="R7b3cc276623241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db2f46f0f4032" /><Relationship Type="http://schemas.openxmlformats.org/officeDocument/2006/relationships/notesSlide" Target="/ppt/notesSlides/notesSlide4.xml" Id="Re3914f93529440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df1a548664331" /><Relationship Type="http://schemas.openxmlformats.org/officeDocument/2006/relationships/notesSlide" Target="/ppt/notesSlides/notesSlide5.xml" Id="Rfc4971d3da8a47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b754bd1dd402c" /><Relationship Type="http://schemas.openxmlformats.org/officeDocument/2006/relationships/notesSlide" Target="/ppt/notesSlides/notesSlide6.xml" Id="R6c106bd34ded4a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World-cover-event">
            <a:extLst xmlns:a="http://schemas.openxmlformats.org/drawingml/2006/main">
              <a:ext uri="{FF2B5EF4-FFF2-40B4-BE49-F238E27FC236}">
                <a16:creationId xmlns:a16="http://schemas.microsoft.com/office/drawing/2014/main" id="{97DC94EA-50EB-4927-81EE-DED54600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381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REMIT · ETHGLOBAL LISBON 2026</a:t>
            </a:r>
          </a:p>
        </p:txBody>
      </p:sp>
      <p:sp>
        <p:nvSpPr>
          <p:cNvPr id="2" name="World-cover-sponsor">
            <a:extLst xmlns:a="http://schemas.openxmlformats.org/drawingml/2006/main">
              <a:ext uri="{FF2B5EF4-FFF2-40B4-BE49-F238E27FC236}">
                <a16:creationId xmlns:a16="http://schemas.microsoft.com/office/drawing/2014/main" id="{F2E35684-4063-49DF-85AB-D39870C6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"/>
            <a:ext cx="3705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WORLD</a:t>
            </a:r>
          </a:p>
        </p:txBody>
      </p:sp>
      <p:sp>
        <p:nvSpPr>
          <p:cNvPr id="3" name="World-cover-accent">
            <a:extLst xmlns:a="http://schemas.openxmlformats.org/drawingml/2006/main">
              <a:ext uri="{FF2B5EF4-FFF2-40B4-BE49-F238E27FC236}">
                <a16:creationId xmlns:a16="http://schemas.microsoft.com/office/drawing/2014/main" id="{B5DD34BA-E749-4726-8000-C602B4B9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62200"/>
            <a:ext cx="13239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ld-cover-title">
            <a:extLst xmlns:a="http://schemas.openxmlformats.org/drawingml/2006/main">
              <a:ext uri="{FF2B5EF4-FFF2-40B4-BE49-F238E27FC236}">
                <a16:creationId xmlns:a16="http://schemas.microsoft.com/office/drawing/2014/main" id="{C3A20041-AF73-47F2-9F96-B97B4121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1038225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Count people,
not wallets.</a:t>
            </a:r>
          </a:p>
        </p:txBody>
      </p:sp>
    </p:spTree>
    <p:extLst>
      <p:ext uri="{BB962C8B-B14F-4D97-AF65-F5344CB8AC3E}">
        <p14:creationId xmlns:p14="http://schemas.microsoft.com/office/powerpoint/2010/main" val="767014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world-problem-title">
            <a:extLst xmlns:a="http://schemas.openxmlformats.org/drawingml/2006/main">
              <a:ext uri="{FF2B5EF4-FFF2-40B4-BE49-F238E27FC236}">
                <a16:creationId xmlns:a16="http://schemas.microsoft.com/office/drawing/2014/main" id="{F45E3E2C-50FB-44A3-959E-31D3FED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wallets must not become two approvers</a:t>
            </a:r>
          </a:p>
        </p:txBody>
      </p:sp>
      <p:sp>
        <p:nvSpPr>
          <p:cNvPr id="2" name="world-problem-arrow-1">
            <a:extLst xmlns:a="http://schemas.openxmlformats.org/drawingml/2006/main">
              <a:ext uri="{FF2B5EF4-FFF2-40B4-BE49-F238E27FC236}">
                <a16:creationId xmlns:a16="http://schemas.microsoft.com/office/drawing/2014/main" id="{0CCF2662-5BCC-4CD9-A3A5-63C61DC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1190625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orld-problem-arrow-2">
            <a:extLst xmlns:a="http://schemas.openxmlformats.org/drawingml/2006/main">
              <a:ext uri="{FF2B5EF4-FFF2-40B4-BE49-F238E27FC236}">
                <a16:creationId xmlns:a16="http://schemas.microsoft.com/office/drawing/2014/main" id="{07D91216-4575-47C0-B0E7-08639D75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143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ld-problem-arrow-3">
            <a:extLst xmlns:a="http://schemas.openxmlformats.org/drawingml/2006/main">
              <a:ext uri="{FF2B5EF4-FFF2-40B4-BE49-F238E27FC236}">
                <a16:creationId xmlns:a16="http://schemas.microsoft.com/office/drawing/2014/main" id="{7DCEF7E2-3DDD-43BC-AB5A-554E9ED6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1143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ld-human">
            <a:extLst xmlns:a="http://schemas.openxmlformats.org/drawingml/2006/main">
              <a:ext uri="{FF2B5EF4-FFF2-40B4-BE49-F238E27FC236}">
                <a16:creationId xmlns:a16="http://schemas.microsoft.com/office/drawing/2014/main" id="{49712056-0F73-46B7-8D3D-E49D16F7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0"/>
            <a:ext cx="2428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ld-wallet-a1">
            <a:extLst xmlns:a="http://schemas.openxmlformats.org/drawingml/2006/main">
              <a:ext uri="{FF2B5EF4-FFF2-40B4-BE49-F238E27FC236}">
                <a16:creationId xmlns:a16="http://schemas.microsoft.com/office/drawing/2014/main" id="{5CD082BB-3F4E-41F1-ADC3-A546D21F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90700"/>
            <a:ext cx="1857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world-wallet-a2">
            <a:extLst xmlns:a="http://schemas.openxmlformats.org/drawingml/2006/main">
              <a:ext uri="{FF2B5EF4-FFF2-40B4-BE49-F238E27FC236}">
                <a16:creationId xmlns:a16="http://schemas.microsoft.com/office/drawing/2014/main" id="{4E66E9BD-76FD-4DC6-8A08-0D04DC7D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90900"/>
            <a:ext cx="1857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world-naive-count">
            <a:extLst xmlns:a="http://schemas.openxmlformats.org/drawingml/2006/main">
              <a:ext uri="{FF2B5EF4-FFF2-40B4-BE49-F238E27FC236}">
                <a16:creationId xmlns:a16="http://schemas.microsoft.com/office/drawing/2014/main" id="{D5252EB8-2655-498E-B2C7-AAAE0142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90700"/>
            <a:ext cx="4524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ld-correct-count">
            <a:extLst xmlns:a="http://schemas.openxmlformats.org/drawingml/2006/main">
              <a:ext uri="{FF2B5EF4-FFF2-40B4-BE49-F238E27FC236}">
                <a16:creationId xmlns:a16="http://schemas.microsoft.com/office/drawing/2014/main" id="{96FEDE42-4237-4350-BE3D-ED99682F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90900"/>
            <a:ext cx="4524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ld-human-label">
            <a:extLst xmlns:a="http://schemas.openxmlformats.org/drawingml/2006/main">
              <a:ext uri="{FF2B5EF4-FFF2-40B4-BE49-F238E27FC236}">
                <a16:creationId xmlns:a16="http://schemas.microsoft.com/office/drawing/2014/main" id="{68A83819-5C2C-4651-9DEB-704749B0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ONE HUMAN</a:t>
            </a:r>
          </a:p>
        </p:txBody>
      </p:sp>
      <p:sp>
        <p:nvSpPr>
          <p:cNvPr id="11" name="world-human-id">
            <a:extLst xmlns:a="http://schemas.openxmlformats.org/drawingml/2006/main">
              <a:ext uri="{FF2B5EF4-FFF2-40B4-BE49-F238E27FC236}">
                <a16:creationId xmlns:a16="http://schemas.microsoft.com/office/drawing/2014/main" id="{21B8B841-3CD7-4763-B38B-1F067CD0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809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P1</a:t>
            </a:r>
          </a:p>
        </p:txBody>
      </p:sp>
      <p:sp>
        <p:nvSpPr>
          <p:cNvPr id="12" name="world-wallet-a1-text">
            <a:extLst xmlns:a="http://schemas.openxmlformats.org/drawingml/2006/main">
              <a:ext uri="{FF2B5EF4-FFF2-40B4-BE49-F238E27FC236}">
                <a16:creationId xmlns:a16="http://schemas.microsoft.com/office/drawing/2014/main" id="{FAEC1434-B43C-469D-B25F-B4C72AD9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907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wallet A1</a:t>
            </a:r>
          </a:p>
        </p:txBody>
      </p:sp>
      <p:sp>
        <p:nvSpPr>
          <p:cNvPr id="13" name="world-wallet-a2-text">
            <a:extLst xmlns:a="http://schemas.openxmlformats.org/drawingml/2006/main">
              <a:ext uri="{FF2B5EF4-FFF2-40B4-BE49-F238E27FC236}">
                <a16:creationId xmlns:a16="http://schemas.microsoft.com/office/drawing/2014/main" id="{0DAA4BDD-6BF9-4773-B8F7-B2DB2DE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wallet A2</a:t>
            </a:r>
          </a:p>
        </p:txBody>
      </p:sp>
      <p:sp>
        <p:nvSpPr>
          <p:cNvPr id="14" name="world-naive-text">
            <a:extLst xmlns:a="http://schemas.openxmlformats.org/drawingml/2006/main">
              <a:ext uri="{FF2B5EF4-FFF2-40B4-BE49-F238E27FC236}">
                <a16:creationId xmlns:a16="http://schemas.microsoft.com/office/drawing/2014/main" id="{17F429EF-C133-4B05-8C2A-269AF91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05025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Without World: two accounts look like two approvals</a:t>
            </a:r>
          </a:p>
        </p:txBody>
      </p:sp>
      <p:sp>
        <p:nvSpPr>
          <p:cNvPr id="15" name="world-correct-text">
            <a:extLst xmlns:a="http://schemas.openxmlformats.org/drawingml/2006/main">
              <a:ext uri="{FF2B5EF4-FFF2-40B4-BE49-F238E27FC236}">
                <a16:creationId xmlns:a16="http://schemas.microsoft.com/office/drawing/2014/main" id="{7EDE6028-5240-464A-9D94-E6E3C339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05225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With World: both resolve to P1 and count once</a:t>
            </a:r>
          </a:p>
        </p:txBody>
      </p:sp>
      <p:sp>
        <p:nvSpPr>
          <p:cNvPr id="16" name="world-problem-takeaway">
            <a:extLst xmlns:a="http://schemas.openxmlformats.org/drawingml/2006/main">
              <a:ext uri="{FF2B5EF4-FFF2-40B4-BE49-F238E27FC236}">
                <a16:creationId xmlns:a16="http://schemas.microsoft.com/office/drawing/2014/main" id="{C137554A-8E0E-4973-9013-0C30568E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959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it matters: an attacker cannot manufacture a second approver by creating another wallet.</a:t>
            </a:r>
          </a:p>
        </p:txBody>
      </p:sp>
      <p:sp>
        <p:nvSpPr>
          <p:cNvPr id="17" name="page-2">
            <a:extLst xmlns:a="http://schemas.openxmlformats.org/drawingml/2006/main">
              <a:ext uri="{FF2B5EF4-FFF2-40B4-BE49-F238E27FC236}">
                <a16:creationId xmlns:a16="http://schemas.microsoft.com/office/drawing/2014/main" id="{B7F65AC9-A831-47DF-A103-E4A5C04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53695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world-facts-title">
            <a:extLst xmlns:a="http://schemas.openxmlformats.org/drawingml/2006/main">
              <a:ext uri="{FF2B5EF4-FFF2-40B4-BE49-F238E27FC236}">
                <a16:creationId xmlns:a16="http://schemas.microsoft.com/office/drawing/2014/main" id="{8911E4D5-8B0A-43A4-8428-F4A5BEB9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World proves humanity; Remit still proves authority</a:t>
            </a:r>
          </a:p>
        </p:txBody>
      </p:sp>
      <p:sp>
        <p:nvSpPr>
          <p:cNvPr id="2" name="world-facts-accent">
            <a:extLst xmlns:a="http://schemas.openxmlformats.org/drawingml/2006/main">
              <a:ext uri="{FF2B5EF4-FFF2-40B4-BE49-F238E27FC236}">
                <a16:creationId xmlns:a16="http://schemas.microsoft.com/office/drawing/2014/main" id="{CA5BB07F-5491-4BB0-81E1-0D500120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orld-fact-number-0">
            <a:extLst xmlns:a="http://schemas.openxmlformats.org/drawingml/2006/main">
              <a:ext uri="{FF2B5EF4-FFF2-40B4-BE49-F238E27FC236}">
                <a16:creationId xmlns:a16="http://schemas.microsoft.com/office/drawing/2014/main" id="{F8019735-06E5-446E-95C1-4CD48D5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28800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4" name="world-fact-rule-0">
            <a:extLst xmlns:a="http://schemas.openxmlformats.org/drawingml/2006/main">
              <a:ext uri="{FF2B5EF4-FFF2-40B4-BE49-F238E27FC236}">
                <a16:creationId xmlns:a16="http://schemas.microsoft.com/office/drawing/2014/main" id="{5068E956-F80B-48D1-BC82-ABE2B2AE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ld-fact-heading-0">
            <a:extLst xmlns:a="http://schemas.openxmlformats.org/drawingml/2006/main">
              <a:ext uri="{FF2B5EF4-FFF2-40B4-BE49-F238E27FC236}">
                <a16:creationId xmlns:a16="http://schemas.microsoft.com/office/drawing/2014/main" id="{B7915DAD-83A1-42F7-AF00-4C96087F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99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backing</a:t>
            </a:r>
          </a:p>
        </p:txBody>
      </p:sp>
      <p:sp>
        <p:nvSpPr>
          <p:cNvPr id="6" name="world-fact-owner-0">
            <a:extLst xmlns:a="http://schemas.openxmlformats.org/drawingml/2006/main">
              <a:ext uri="{FF2B5EF4-FFF2-40B4-BE49-F238E27FC236}">
                <a16:creationId xmlns:a16="http://schemas.microsoft.com/office/drawing/2014/main" id="{692B829B-8EFD-4157-A4A4-A92DF389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WORLD</a:t>
            </a:r>
          </a:p>
        </p:txBody>
      </p:sp>
      <p:sp>
        <p:nvSpPr>
          <p:cNvPr id="7" name="world-fact-body-0">
            <a:extLst xmlns:a="http://schemas.openxmlformats.org/drawingml/2006/main">
              <a:ext uri="{FF2B5EF4-FFF2-40B4-BE49-F238E27FC236}">
                <a16:creationId xmlns:a16="http://schemas.microsoft.com/office/drawing/2014/main" id="{D247FCA3-CE52-4159-A91A-FD0F9736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57675"/>
            <a:ext cx="3333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AgentKit and AgentBook establish which anonymous human backs an enrolled agent.</a:t>
            </a:r>
          </a:p>
        </p:txBody>
      </p:sp>
      <p:sp>
        <p:nvSpPr>
          <p:cNvPr id="8" name="world-fact-number-1">
            <a:extLst xmlns:a="http://schemas.openxmlformats.org/drawingml/2006/main">
              <a:ext uri="{FF2B5EF4-FFF2-40B4-BE49-F238E27FC236}">
                <a16:creationId xmlns:a16="http://schemas.microsoft.com/office/drawing/2014/main" id="{73359040-A2A8-48F9-ABA3-9EB658F8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28800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world-fact-rule-1">
            <a:extLst xmlns:a="http://schemas.openxmlformats.org/drawingml/2006/main">
              <a:ext uri="{FF2B5EF4-FFF2-40B4-BE49-F238E27FC236}">
                <a16:creationId xmlns:a16="http://schemas.microsoft.com/office/drawing/2014/main" id="{57EDD159-26BB-47A1-8B5D-32C8D47F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670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ld-fact-heading-1">
            <a:extLst xmlns:a="http://schemas.openxmlformats.org/drawingml/2006/main">
              <a:ext uri="{FF2B5EF4-FFF2-40B4-BE49-F238E27FC236}">
                <a16:creationId xmlns:a16="http://schemas.microsoft.com/office/drawing/2014/main" id="{5D069480-8C57-4163-A3E4-9A0760ED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Company role</a:t>
            </a:r>
          </a:p>
        </p:txBody>
      </p:sp>
      <p:sp>
        <p:nvSpPr>
          <p:cNvPr id="11" name="world-fact-owner-1">
            <a:extLst xmlns:a="http://schemas.openxmlformats.org/drawingml/2006/main">
              <a:ext uri="{FF2B5EF4-FFF2-40B4-BE49-F238E27FC236}">
                <a16:creationId xmlns:a16="http://schemas.microsoft.com/office/drawing/2014/main" id="{33265092-3D2B-45D4-B5B2-0B43727E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1475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COMPANY</a:t>
            </a:r>
          </a:p>
        </p:txBody>
      </p:sp>
      <p:sp>
        <p:nvSpPr>
          <p:cNvPr id="12" name="world-fact-body-1">
            <a:extLst xmlns:a="http://schemas.openxmlformats.org/drawingml/2006/main">
              <a:ext uri="{FF2B5EF4-FFF2-40B4-BE49-F238E27FC236}">
                <a16:creationId xmlns:a16="http://schemas.microsoft.com/office/drawing/2014/main" id="{489E71BC-A2CC-4D81-A413-4F8140B9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57675"/>
            <a:ext cx="3333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The company—not World—decides who is its treasurer, approver or payment agent.</a:t>
            </a:r>
          </a:p>
        </p:txBody>
      </p:sp>
      <p:sp>
        <p:nvSpPr>
          <p:cNvPr id="13" name="world-fact-number-2">
            <a:extLst xmlns:a="http://schemas.openxmlformats.org/drawingml/2006/main">
              <a:ext uri="{FF2B5EF4-FFF2-40B4-BE49-F238E27FC236}">
                <a16:creationId xmlns:a16="http://schemas.microsoft.com/office/drawing/2014/main" id="{D122D38E-2714-42FD-A0C3-1BFA4E6F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4" name="world-fact-rule-2">
            <a:extLst xmlns:a="http://schemas.openxmlformats.org/drawingml/2006/main">
              <a:ext uri="{FF2B5EF4-FFF2-40B4-BE49-F238E27FC236}">
                <a16:creationId xmlns:a16="http://schemas.microsoft.com/office/drawing/2014/main" id="{F94C13E9-69F8-4779-A324-4E19D688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orld-fact-heading-2">
            <a:extLst xmlns:a="http://schemas.openxmlformats.org/drawingml/2006/main">
              <a:ext uri="{FF2B5EF4-FFF2-40B4-BE49-F238E27FC236}">
                <a16:creationId xmlns:a16="http://schemas.microsoft.com/office/drawing/2014/main" id="{298C1D73-EC1D-4749-8039-E7723C6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099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Action permission</a:t>
            </a:r>
          </a:p>
        </p:txBody>
      </p:sp>
      <p:sp>
        <p:nvSpPr>
          <p:cNvPr id="16" name="world-fact-owner-2">
            <a:extLst xmlns:a="http://schemas.openxmlformats.org/drawingml/2006/main">
              <a:ext uri="{FF2B5EF4-FFF2-40B4-BE49-F238E27FC236}">
                <a16:creationId xmlns:a16="http://schemas.microsoft.com/office/drawing/2014/main" id="{C66358FC-97D0-4AD9-97B1-6EF276C2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REMIT POLICY</a:t>
            </a:r>
          </a:p>
        </p:txBody>
      </p:sp>
      <p:sp>
        <p:nvSpPr>
          <p:cNvPr id="17" name="world-fact-body-2">
            <a:extLst xmlns:a="http://schemas.openxmlformats.org/drawingml/2006/main">
              <a:ext uri="{FF2B5EF4-FFF2-40B4-BE49-F238E27FC236}">
                <a16:creationId xmlns:a16="http://schemas.microsoft.com/office/drawing/2014/main" id="{EEF8F7C2-F396-4B12-A786-A871D4EA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57675"/>
            <a:ext cx="3333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The frozen policy decides whether this exact payment may run or needs fresh approval.</a:t>
            </a:r>
          </a:p>
        </p:txBody>
      </p:sp>
      <p:sp>
        <p:nvSpPr>
          <p:cNvPr id="18" name="world-facts-takeaway">
            <a:extLst xmlns:a="http://schemas.openxmlformats.org/drawingml/2006/main">
              <a:ext uri="{FF2B5EF4-FFF2-40B4-BE49-F238E27FC236}">
                <a16:creationId xmlns:a16="http://schemas.microsoft.com/office/drawing/2014/main" id="{C2E4CC24-B423-488F-AE58-B7C37F21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91200"/>
            <a:ext cx="828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Keeping these facts separate is the security model.</a:t>
            </a:r>
          </a:p>
        </p:txBody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787EFB02-5C98-4F03-8BAD-DD602CB1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8597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world-flow-title">
            <a:extLst xmlns:a="http://schemas.openxmlformats.org/drawingml/2006/main">
              <a:ext uri="{FF2B5EF4-FFF2-40B4-BE49-F238E27FC236}">
                <a16:creationId xmlns:a16="http://schemas.microsoft.com/office/drawing/2014/main" id="{9576BEFC-63BD-4AAF-9EB1-7ECB111A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Changed beneficiary → World-backed approval</a:t>
            </a:r>
          </a:p>
        </p:txBody>
      </p:sp>
      <p:sp>
        <p:nvSpPr>
          <p:cNvPr id="2" name="world-flow-a1">
            <a:extLst xmlns:a="http://schemas.openxmlformats.org/drawingml/2006/main">
              <a:ext uri="{FF2B5EF4-FFF2-40B4-BE49-F238E27FC236}">
                <a16:creationId xmlns:a16="http://schemas.microsoft.com/office/drawing/2014/main" id="{E50C39CC-6D0D-4C87-8A59-16D4AFB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33725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orld-flow-a2">
            <a:extLst xmlns:a="http://schemas.openxmlformats.org/drawingml/2006/main">
              <a:ext uri="{FF2B5EF4-FFF2-40B4-BE49-F238E27FC236}">
                <a16:creationId xmlns:a16="http://schemas.microsoft.com/office/drawing/2014/main" id="{DB5CB331-FA6A-4911-A3FB-1C49B5A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33725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ld-flow-a3">
            <a:extLst xmlns:a="http://schemas.openxmlformats.org/drawingml/2006/main">
              <a:ext uri="{FF2B5EF4-FFF2-40B4-BE49-F238E27FC236}">
                <a16:creationId xmlns:a16="http://schemas.microsoft.com/office/drawing/2014/main" id="{924D914B-7832-4FFA-A63E-399B7FFF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ld-flow-node-0">
            <a:extLst xmlns:a="http://schemas.openxmlformats.org/drawingml/2006/main">
              <a:ext uri="{FF2B5EF4-FFF2-40B4-BE49-F238E27FC236}">
                <a16:creationId xmlns:a16="http://schemas.microsoft.com/office/drawing/2014/main" id="{02D7620D-6DD5-4DBC-AAB4-BE36923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09800"/>
            <a:ext cx="23336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ld-flow-label-0">
            <a:extLst xmlns:a="http://schemas.openxmlformats.org/drawingml/2006/main">
              <a:ext uri="{FF2B5EF4-FFF2-40B4-BE49-F238E27FC236}">
                <a16:creationId xmlns:a16="http://schemas.microsoft.com/office/drawing/2014/main" id="{E3DE3443-561A-4A41-8D3C-34358E1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14600"/>
            <a:ext cx="19907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1  DETECT</a:t>
            </a:r>
          </a:p>
        </p:txBody>
      </p:sp>
      <p:sp>
        <p:nvSpPr>
          <p:cNvPr id="7" name="world-flow-heading-0">
            <a:extLst xmlns:a="http://schemas.openxmlformats.org/drawingml/2006/main">
              <a:ext uri="{FF2B5EF4-FFF2-40B4-BE49-F238E27FC236}">
                <a16:creationId xmlns:a16="http://schemas.microsoft.com/office/drawing/2014/main" id="{0BD53339-F03F-4E60-B2CA-BFC952C4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105150"/>
            <a:ext cx="19907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Beneficiary differs</a:t>
            </a:r>
          </a:p>
        </p:txBody>
      </p:sp>
      <p:sp>
        <p:nvSpPr>
          <p:cNvPr id="8" name="world-flow-body-0">
            <a:extLst xmlns:a="http://schemas.openxmlformats.org/drawingml/2006/main">
              <a:ext uri="{FF2B5EF4-FFF2-40B4-BE49-F238E27FC236}">
                <a16:creationId xmlns:a16="http://schemas.microsoft.com/office/drawing/2014/main" id="{0526EBD1-F40E-44A9-81BB-EEF311AF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81450"/>
            <a:ext cx="19907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Supplier record no longer matches.</a:t>
            </a:r>
          </a:p>
        </p:txBody>
      </p:sp>
      <p:sp>
        <p:nvSpPr>
          <p:cNvPr id="9" name="world-flow-node-1">
            <a:extLst xmlns:a="http://schemas.openxmlformats.org/drawingml/2006/main">
              <a:ext uri="{FF2B5EF4-FFF2-40B4-BE49-F238E27FC236}">
                <a16:creationId xmlns:a16="http://schemas.microsoft.com/office/drawing/2014/main" id="{6B30D0EB-62CC-4341-B709-0817ED64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3050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ld-flow-label-1">
            <a:extLst xmlns:a="http://schemas.openxmlformats.org/drawingml/2006/main">
              <a:ext uri="{FF2B5EF4-FFF2-40B4-BE49-F238E27FC236}">
                <a16:creationId xmlns:a16="http://schemas.microsoft.com/office/drawing/2014/main" id="{D4F0946D-E4BF-4DBB-AA82-14A6E3C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2  FREEZE</a:t>
            </a:r>
          </a:p>
        </p:txBody>
      </p:sp>
      <p:sp>
        <p:nvSpPr>
          <p:cNvPr id="11" name="world-flow-heading-1">
            <a:extLst xmlns:a="http://schemas.openxmlformats.org/drawingml/2006/main">
              <a:ext uri="{FF2B5EF4-FFF2-40B4-BE49-F238E27FC236}">
                <a16:creationId xmlns:a16="http://schemas.microsoft.com/office/drawing/2014/main" id="{3DDEFE3E-1DCB-456B-888B-2080432F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1962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action digest</a:t>
            </a:r>
          </a:p>
        </p:txBody>
      </p:sp>
      <p:sp>
        <p:nvSpPr>
          <p:cNvPr id="12" name="world-flow-body-1">
            <a:extLst xmlns:a="http://schemas.openxmlformats.org/drawingml/2006/main">
              <a:ext uri="{FF2B5EF4-FFF2-40B4-BE49-F238E27FC236}">
                <a16:creationId xmlns:a16="http://schemas.microsoft.com/office/drawing/2014/main" id="{78A4392E-08C0-48AE-A15C-5A08F3E6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1962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Recipient and amount become immutable.</a:t>
            </a:r>
          </a:p>
        </p:txBody>
      </p:sp>
      <p:sp>
        <p:nvSpPr>
          <p:cNvPr id="13" name="world-flow-node-2">
            <a:extLst xmlns:a="http://schemas.openxmlformats.org/drawingml/2006/main">
              <a:ext uri="{FF2B5EF4-FFF2-40B4-BE49-F238E27FC236}">
                <a16:creationId xmlns:a16="http://schemas.microsoft.com/office/drawing/2014/main" id="{CA39A186-57CA-4E86-9AE6-C762307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23050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ld-flow-label-2">
            <a:extLst xmlns:a="http://schemas.openxmlformats.org/drawingml/2006/main">
              <a:ext uri="{FF2B5EF4-FFF2-40B4-BE49-F238E27FC236}">
                <a16:creationId xmlns:a16="http://schemas.microsoft.com/office/drawing/2014/main" id="{68775617-A33F-4453-B519-A6C5DDA5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3  VERIFY</a:t>
            </a:r>
          </a:p>
        </p:txBody>
      </p:sp>
      <p:sp>
        <p:nvSpPr>
          <p:cNvPr id="15" name="world-flow-heading-2">
            <a:extLst xmlns:a="http://schemas.openxmlformats.org/drawingml/2006/main">
              <a:ext uri="{FF2B5EF4-FFF2-40B4-BE49-F238E27FC236}">
                <a16:creationId xmlns:a16="http://schemas.microsoft.com/office/drawing/2014/main" id="{CAF5398F-81A5-41A3-B1E9-E8D9BD2D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1962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World verification</a:t>
            </a:r>
          </a:p>
        </p:txBody>
      </p:sp>
      <p:sp>
        <p:nvSpPr>
          <p:cNvPr id="16" name="world-flow-body-2">
            <a:extLst xmlns:a="http://schemas.openxmlformats.org/drawingml/2006/main">
              <a:ext uri="{FF2B5EF4-FFF2-40B4-BE49-F238E27FC236}">
                <a16:creationId xmlns:a16="http://schemas.microsoft.com/office/drawing/2014/main" id="{A6A054EA-3B72-434D-AF34-3E4664D8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1962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AgentKit, AgentBook and HITL proof are checked.</a:t>
            </a:r>
          </a:p>
        </p:txBody>
      </p:sp>
      <p:sp>
        <p:nvSpPr>
          <p:cNvPr id="17" name="world-flow-node-3">
            <a:extLst xmlns:a="http://schemas.openxmlformats.org/drawingml/2006/main">
              <a:ext uri="{FF2B5EF4-FFF2-40B4-BE49-F238E27FC236}">
                <a16:creationId xmlns:a16="http://schemas.microsoft.com/office/drawing/2014/main" id="{5A169FCA-D8A2-4400-9924-BB526C1E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246697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orld-flow-label-3">
            <a:extLst xmlns:a="http://schemas.openxmlformats.org/drawingml/2006/main">
              <a:ext uri="{FF2B5EF4-FFF2-40B4-BE49-F238E27FC236}">
                <a16:creationId xmlns:a16="http://schemas.microsoft.com/office/drawing/2014/main" id="{92578825-4697-409C-918E-698A853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14600"/>
            <a:ext cx="2124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4  COUNT</a:t>
            </a:r>
          </a:p>
        </p:txBody>
      </p:sp>
      <p:sp>
        <p:nvSpPr>
          <p:cNvPr id="19" name="world-flow-heading-3">
            <a:extLst xmlns:a="http://schemas.openxmlformats.org/drawingml/2006/main">
              <a:ext uri="{FF2B5EF4-FFF2-40B4-BE49-F238E27FC236}">
                <a16:creationId xmlns:a16="http://schemas.microsoft.com/office/drawing/2014/main" id="{D7954F6A-6962-4425-8DAB-02E3A9A3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05150"/>
            <a:ext cx="21240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Distinct-human quorum</a:t>
            </a:r>
          </a:p>
        </p:txBody>
      </p:sp>
      <p:sp>
        <p:nvSpPr>
          <p:cNvPr id="20" name="world-flow-body-3">
            <a:extLst xmlns:a="http://schemas.openxmlformats.org/drawingml/2006/main">
              <a:ext uri="{FF2B5EF4-FFF2-40B4-BE49-F238E27FC236}">
                <a16:creationId xmlns:a16="http://schemas.microsoft.com/office/drawing/2014/main" id="{B8895B9F-DE8E-4AF1-875C-8D92F02C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81450"/>
            <a:ext cx="212407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Same-human duplicates collapse to one.</a:t>
            </a:r>
          </a:p>
        </p:txBody>
      </p:sp>
      <p:sp>
        <p:nvSpPr>
          <p:cNvPr id="21" name="world-flow-takeaway">
            <a:extLst xmlns:a="http://schemas.openxmlformats.org/drawingml/2006/main">
              <a:ext uri="{FF2B5EF4-FFF2-40B4-BE49-F238E27FC236}">
                <a16:creationId xmlns:a16="http://schemas.microsoft.com/office/drawing/2014/main" id="{06F8540D-2E29-4774-A820-1D207ABF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person cannot satisfy both approval slots, even through different agent wallets.</a:t>
            </a:r>
          </a:p>
        </p:txBody>
      </p:sp>
      <p:sp>
        <p:nvSpPr>
          <p:cNvPr id="22" name="page-4">
            <a:extLst xmlns:a="http://schemas.openxmlformats.org/drawingml/2006/main">
              <a:ext uri="{FF2B5EF4-FFF2-40B4-BE49-F238E27FC236}">
                <a16:creationId xmlns:a16="http://schemas.microsoft.com/office/drawing/2014/main" id="{3220CF6F-FAC8-4477-ACBB-1E996B4F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14581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world-quorum-title">
            <a:extLst xmlns:a="http://schemas.openxmlformats.org/drawingml/2006/main">
              <a:ext uri="{FF2B5EF4-FFF2-40B4-BE49-F238E27FC236}">
                <a16:creationId xmlns:a16="http://schemas.microsoft.com/office/drawing/2014/main" id="{0D97931E-6655-42AC-ACB5-E9128EC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quorum counts distinct accountability classes</a:t>
            </a:r>
          </a:p>
        </p:txBody>
      </p:sp>
      <p:sp>
        <p:nvSpPr>
          <p:cNvPr id="2" name="world-quorum-h1">
            <a:extLst xmlns:a="http://schemas.openxmlformats.org/drawingml/2006/main">
              <a:ext uri="{FF2B5EF4-FFF2-40B4-BE49-F238E27FC236}">
                <a16:creationId xmlns:a16="http://schemas.microsoft.com/office/drawing/2014/main" id="{8B673535-E0A7-43F9-9F38-2B1B4732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Attempt</a:t>
            </a:r>
          </a:p>
        </p:txBody>
      </p:sp>
      <p:sp>
        <p:nvSpPr>
          <p:cNvPr id="3" name="world-quorum-h2">
            <a:extLst xmlns:a="http://schemas.openxmlformats.org/drawingml/2006/main">
              <a:ext uri="{FF2B5EF4-FFF2-40B4-BE49-F238E27FC236}">
                <a16:creationId xmlns:a16="http://schemas.microsoft.com/office/drawing/2014/main" id="{F9CE30A5-7F9C-4748-A9D5-1E126A5A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7640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World evidence</a:t>
            </a:r>
          </a:p>
        </p:txBody>
      </p:sp>
      <p:sp>
        <p:nvSpPr>
          <p:cNvPr id="4" name="world-quorum-h3">
            <a:extLst xmlns:a="http://schemas.openxmlformats.org/drawingml/2006/main">
              <a:ext uri="{FF2B5EF4-FFF2-40B4-BE49-F238E27FC236}">
                <a16:creationId xmlns:a16="http://schemas.microsoft.com/office/drawing/2014/main" id="{AFDE5584-4E02-44CD-A368-9AF2DDF0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Remit result</a:t>
            </a:r>
          </a:p>
        </p:txBody>
      </p:sp>
      <p:sp>
        <p:nvSpPr>
          <p:cNvPr id="5" name="world-quorum-head-rule">
            <a:extLst xmlns:a="http://schemas.openxmlformats.org/drawingml/2006/main">
              <a:ext uri="{FF2B5EF4-FFF2-40B4-BE49-F238E27FC236}">
                <a16:creationId xmlns:a16="http://schemas.microsoft.com/office/drawing/2014/main" id="{F1516398-A406-413F-B963-3BA69E3D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ld-quorum-attempt-0">
            <a:extLst xmlns:a="http://schemas.openxmlformats.org/drawingml/2006/main">
              <a:ext uri="{FF2B5EF4-FFF2-40B4-BE49-F238E27FC236}">
                <a16:creationId xmlns:a16="http://schemas.microsoft.com/office/drawing/2014/main" id="{84BDFAEA-09F1-4724-B092-27DF045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A1</a:t>
            </a:r>
          </a:p>
        </p:txBody>
      </p:sp>
      <p:sp>
        <p:nvSpPr>
          <p:cNvPr id="7" name="world-quorum-evidence-0">
            <a:extLst xmlns:a="http://schemas.openxmlformats.org/drawingml/2006/main">
              <a:ext uri="{FF2B5EF4-FFF2-40B4-BE49-F238E27FC236}">
                <a16:creationId xmlns:a16="http://schemas.microsoft.com/office/drawing/2014/main" id="{EF79B0F0-3E89-4176-9395-DD576B09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00300"/>
            <a:ext cx="33813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AgentBook P1 + fresh human H1</a:t>
            </a:r>
          </a:p>
        </p:txBody>
      </p:sp>
      <p:sp>
        <p:nvSpPr>
          <p:cNvPr id="8" name="world-quorum-result-0">
            <a:extLst xmlns:a="http://schemas.openxmlformats.org/drawingml/2006/main">
              <a:ext uri="{FF2B5EF4-FFF2-40B4-BE49-F238E27FC236}">
                <a16:creationId xmlns:a16="http://schemas.microsoft.com/office/drawing/2014/main" id="{E0330DB8-217A-4372-BC08-87560313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COUNTED — first valid approval</a:t>
            </a:r>
          </a:p>
        </p:txBody>
      </p:sp>
      <p:sp>
        <p:nvSpPr>
          <p:cNvPr id="9" name="world-quorum-rule-0">
            <a:extLst xmlns:a="http://schemas.openxmlformats.org/drawingml/2006/main">
              <a:ext uri="{FF2B5EF4-FFF2-40B4-BE49-F238E27FC236}">
                <a16:creationId xmlns:a16="http://schemas.microsoft.com/office/drawing/2014/main" id="{E1FF7A32-CBF9-47B0-ADC8-FA15F110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765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ld-quorum-attempt-1">
            <a:extLst xmlns:a="http://schemas.openxmlformats.org/drawingml/2006/main">
              <a:ext uri="{FF2B5EF4-FFF2-40B4-BE49-F238E27FC236}">
                <a16:creationId xmlns:a16="http://schemas.microsoft.com/office/drawing/2014/main" id="{439F8039-1059-493C-8A11-E643F996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766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A2</a:t>
            </a:r>
          </a:p>
        </p:txBody>
      </p:sp>
      <p:sp>
        <p:nvSpPr>
          <p:cNvPr id="11" name="world-quorum-evidence-1">
            <a:extLst xmlns:a="http://schemas.openxmlformats.org/drawingml/2006/main">
              <a:ext uri="{FF2B5EF4-FFF2-40B4-BE49-F238E27FC236}">
                <a16:creationId xmlns:a16="http://schemas.microsoft.com/office/drawing/2014/main" id="{4B16352D-84F9-47BD-A355-54F685CA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76600"/>
            <a:ext cx="33813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AgentBook P1 through another wallet</a:t>
            </a:r>
          </a:p>
        </p:txBody>
      </p:sp>
      <p:sp>
        <p:nvSpPr>
          <p:cNvPr id="12" name="world-quorum-result-1">
            <a:extLst xmlns:a="http://schemas.openxmlformats.org/drawingml/2006/main">
              <a:ext uri="{FF2B5EF4-FFF2-40B4-BE49-F238E27FC236}">
                <a16:creationId xmlns:a16="http://schemas.microsoft.com/office/drawing/2014/main" id="{24724D1C-A424-425D-ACAE-88096287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NOT COUNTED — same backed human</a:t>
            </a:r>
          </a:p>
        </p:txBody>
      </p:sp>
      <p:sp>
        <p:nvSpPr>
          <p:cNvPr id="13" name="world-quorum-rule-1">
            <a:extLst xmlns:a="http://schemas.openxmlformats.org/drawingml/2006/main">
              <a:ext uri="{FF2B5EF4-FFF2-40B4-BE49-F238E27FC236}">
                <a16:creationId xmlns:a16="http://schemas.microsoft.com/office/drawing/2014/main" id="{0A89C7F0-F850-450D-B5CC-FA2D09F6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528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ld-quorum-attempt-2">
            <a:extLst xmlns:a="http://schemas.openxmlformats.org/drawingml/2006/main">
              <a:ext uri="{FF2B5EF4-FFF2-40B4-BE49-F238E27FC236}">
                <a16:creationId xmlns:a16="http://schemas.microsoft.com/office/drawing/2014/main" id="{25394585-D605-49F9-B7C8-E612A23F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529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</a:t>
            </a:r>
          </a:p>
        </p:txBody>
      </p:sp>
      <p:sp>
        <p:nvSpPr>
          <p:cNvPr id="15" name="world-quorum-evidence-2">
            <a:extLst xmlns:a="http://schemas.openxmlformats.org/drawingml/2006/main">
              <a:ext uri="{FF2B5EF4-FFF2-40B4-BE49-F238E27FC236}">
                <a16:creationId xmlns:a16="http://schemas.microsoft.com/office/drawing/2014/main" id="{A56F3688-798E-4926-9CA5-1924BCEA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52900"/>
            <a:ext cx="33813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AgentBook P2 + repeated human H1</a:t>
            </a:r>
          </a:p>
        </p:txBody>
      </p:sp>
      <p:sp>
        <p:nvSpPr>
          <p:cNvPr id="16" name="world-quorum-result-2">
            <a:extLst xmlns:a="http://schemas.openxmlformats.org/drawingml/2006/main">
              <a:ext uri="{FF2B5EF4-FFF2-40B4-BE49-F238E27FC236}">
                <a16:creationId xmlns:a16="http://schemas.microsoft.com/office/drawing/2014/main" id="{A41E1031-0B1C-4F1E-BDE8-6B90701F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NOT COUNTED — reused action human</a:t>
            </a:r>
          </a:p>
        </p:txBody>
      </p:sp>
      <p:sp>
        <p:nvSpPr>
          <p:cNvPr id="17" name="world-quorum-rule-2">
            <a:extLst xmlns:a="http://schemas.openxmlformats.org/drawingml/2006/main">
              <a:ext uri="{FF2B5EF4-FFF2-40B4-BE49-F238E27FC236}">
                <a16:creationId xmlns:a16="http://schemas.microsoft.com/office/drawing/2014/main" id="{CD3335F1-3C77-4A6C-AEEA-EB99D41A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291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orld-quorum-attempt-3">
            <a:extLst xmlns:a="http://schemas.openxmlformats.org/drawingml/2006/main">
              <a:ext uri="{FF2B5EF4-FFF2-40B4-BE49-F238E27FC236}">
                <a16:creationId xmlns:a16="http://schemas.microsoft.com/office/drawing/2014/main" id="{E4E88844-4EF4-4639-898E-66743EF4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292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</a:t>
            </a:r>
          </a:p>
        </p:txBody>
      </p:sp>
      <p:sp>
        <p:nvSpPr>
          <p:cNvPr id="19" name="world-quorum-evidence-3">
            <a:extLst xmlns:a="http://schemas.openxmlformats.org/drawingml/2006/main">
              <a:ext uri="{FF2B5EF4-FFF2-40B4-BE49-F238E27FC236}">
                <a16:creationId xmlns:a16="http://schemas.microsoft.com/office/drawing/2014/main" id="{317BD68A-BE3B-4C4E-8714-8C4C3738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29200"/>
            <a:ext cx="338137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AgentBook P3 + fresh human H3</a:t>
            </a:r>
          </a:p>
        </p:txBody>
      </p:sp>
      <p:sp>
        <p:nvSpPr>
          <p:cNvPr id="20" name="world-quorum-result-3">
            <a:extLst xmlns:a="http://schemas.openxmlformats.org/drawingml/2006/main">
              <a:ext uri="{FF2B5EF4-FFF2-40B4-BE49-F238E27FC236}">
                <a16:creationId xmlns:a16="http://schemas.microsoft.com/office/drawing/2014/main" id="{49D789EC-661B-4931-8E8B-90E07960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2920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COUNTED — quorum reached</a:t>
            </a:r>
          </a:p>
        </p:txBody>
      </p:sp>
      <p:sp>
        <p:nvSpPr>
          <p:cNvPr id="21" name="world-quorum-rule-3">
            <a:extLst xmlns:a="http://schemas.openxmlformats.org/drawingml/2006/main">
              <a:ext uri="{FF2B5EF4-FFF2-40B4-BE49-F238E27FC236}">
                <a16:creationId xmlns:a16="http://schemas.microsoft.com/office/drawing/2014/main" id="{3B318086-2EE4-4330-92A4-9E9EFBAC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054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orld-quorum-takeaway">
            <a:extLst xmlns:a="http://schemas.openxmlformats.org/drawingml/2006/main">
              <a:ext uri="{FF2B5EF4-FFF2-40B4-BE49-F238E27FC236}">
                <a16:creationId xmlns:a16="http://schemas.microsoft.com/office/drawing/2014/main" id="{B108C026-AEF6-4DBF-B2BF-9A83A3D0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007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A1 + A2 still equals one person. A1 + C gives two distinct humans.</a:t>
            </a:r>
          </a:p>
        </p:txBody>
      </p:sp>
      <p:sp>
        <p:nvSpPr>
          <p:cNvPr id="23" name="page-5">
            <a:extLst xmlns:a="http://schemas.openxmlformats.org/drawingml/2006/main">
              <a:ext uri="{FF2B5EF4-FFF2-40B4-BE49-F238E27FC236}">
                <a16:creationId xmlns:a16="http://schemas.microsoft.com/office/drawing/2014/main" id="{0C71F9FA-C244-487F-8527-B62ADAD8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88316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orld-close-title">
            <a:extLst xmlns:a="http://schemas.openxmlformats.org/drawingml/2006/main">
              <a:ext uri="{FF2B5EF4-FFF2-40B4-BE49-F238E27FC236}">
                <a16:creationId xmlns:a16="http://schemas.microsoft.com/office/drawing/2014/main" id="{10A7831E-450C-44E7-A6AD-E6A84610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World changes whether the exception may proceed</a:t>
            </a:r>
          </a:p>
        </p:txBody>
      </p:sp>
      <p:sp>
        <p:nvSpPr>
          <p:cNvPr id="2" name="world-close-intro">
            <a:extLst xmlns:a="http://schemas.openxmlformats.org/drawingml/2006/main">
              <a:ext uri="{FF2B5EF4-FFF2-40B4-BE49-F238E27FC236}">
                <a16:creationId xmlns:a16="http://schemas.microsoft.com/office/drawing/2014/main" id="{BF1B69FC-C0D5-4969-93C8-55767E3D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The integration is deliberately honest about what is implemented and what is not yet live.</a:t>
            </a:r>
          </a:p>
        </p:txBody>
      </p:sp>
      <p:sp>
        <p:nvSpPr>
          <p:cNvPr id="3" name="world-close-panel-0">
            <a:extLst xmlns:a="http://schemas.openxmlformats.org/drawingml/2006/main">
              <a:ext uri="{FF2B5EF4-FFF2-40B4-BE49-F238E27FC236}">
                <a16:creationId xmlns:a16="http://schemas.microsoft.com/office/drawing/2014/main" id="{BB39E621-2F7B-492B-980E-B9BF8A60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41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ld-close-stat-0">
            <a:extLst xmlns:a="http://schemas.openxmlformats.org/drawingml/2006/main">
              <a:ext uri="{FF2B5EF4-FFF2-40B4-BE49-F238E27FC236}">
                <a16:creationId xmlns:a16="http://schemas.microsoft.com/office/drawing/2014/main" id="{E6B019E1-7D7A-4303-85EC-5323F917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 → 1</a:t>
            </a:r>
          </a:p>
        </p:txBody>
      </p:sp>
      <p:sp>
        <p:nvSpPr>
          <p:cNvPr id="5" name="world-close-heading-0">
            <a:extLst xmlns:a="http://schemas.openxmlformats.org/drawingml/2006/main">
              <a:ext uri="{FF2B5EF4-FFF2-40B4-BE49-F238E27FC236}">
                <a16:creationId xmlns:a16="http://schemas.microsoft.com/office/drawing/2014/main" id="{CD4A4E96-FE1D-4C35-8838-9191B58A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910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wallets collapse</a:t>
            </a:r>
          </a:p>
        </p:txBody>
      </p:sp>
      <p:sp>
        <p:nvSpPr>
          <p:cNvPr id="6" name="world-close-body-0">
            <a:extLst xmlns:a="http://schemas.openxmlformats.org/drawingml/2006/main">
              <a:ext uri="{FF2B5EF4-FFF2-40B4-BE49-F238E27FC236}">
                <a16:creationId xmlns:a16="http://schemas.microsoft.com/office/drawing/2014/main" id="{7CC0A184-C602-480F-B3AC-6AC479D7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19650"/>
            <a:ext cx="2905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Offline tests prove one person's wallets cannot manufacture quorum.</a:t>
            </a:r>
          </a:p>
        </p:txBody>
      </p:sp>
      <p:sp>
        <p:nvSpPr>
          <p:cNvPr id="7" name="world-close-panel-1">
            <a:extLst xmlns:a="http://schemas.openxmlformats.org/drawingml/2006/main">
              <a:ext uri="{FF2B5EF4-FFF2-40B4-BE49-F238E27FC236}">
                <a16:creationId xmlns:a16="http://schemas.microsoft.com/office/drawing/2014/main" id="{03878BE7-06CC-457C-BC22-C89A246A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ld-close-stat-1">
            <a:extLst xmlns:a="http://schemas.openxmlformats.org/drawingml/2006/main">
              <a:ext uri="{FF2B5EF4-FFF2-40B4-BE49-F238E27FC236}">
                <a16:creationId xmlns:a16="http://schemas.microsoft.com/office/drawing/2014/main" id="{349A4181-B88A-4A83-9CB4-8E85298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051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facts</a:t>
            </a:r>
          </a:p>
        </p:txBody>
      </p:sp>
      <p:sp>
        <p:nvSpPr>
          <p:cNvPr id="9" name="world-close-heading-1">
            <a:extLst xmlns:a="http://schemas.openxmlformats.org/drawingml/2006/main">
              <a:ext uri="{FF2B5EF4-FFF2-40B4-BE49-F238E27FC236}">
                <a16:creationId xmlns:a16="http://schemas.microsoft.com/office/drawing/2014/main" id="{6515C872-A61A-4D7C-AF02-EC704149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910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kept separate</a:t>
            </a:r>
          </a:p>
        </p:txBody>
      </p:sp>
      <p:sp>
        <p:nvSpPr>
          <p:cNvPr id="10" name="world-close-body-1">
            <a:extLst xmlns:a="http://schemas.openxmlformats.org/drawingml/2006/main">
              <a:ext uri="{FF2B5EF4-FFF2-40B4-BE49-F238E27FC236}">
                <a16:creationId xmlns:a16="http://schemas.microsoft.com/office/drawing/2014/main" id="{3E074DF4-81CA-4256-92BA-E4BE3F97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19650"/>
            <a:ext cx="2905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Human backing, company role and action permission never become one claim.</a:t>
            </a:r>
          </a:p>
        </p:txBody>
      </p:sp>
      <p:sp>
        <p:nvSpPr>
          <p:cNvPr id="11" name="world-close-panel-2">
            <a:extLst xmlns:a="http://schemas.openxmlformats.org/drawingml/2006/main">
              <a:ext uri="{FF2B5EF4-FFF2-40B4-BE49-F238E27FC236}">
                <a16:creationId xmlns:a16="http://schemas.microsoft.com/office/drawing/2014/main" id="{A8AA3CDA-5719-4797-A338-5CDA0022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241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orld-close-stat-2">
            <a:extLst xmlns:a="http://schemas.openxmlformats.org/drawingml/2006/main">
              <a:ext uri="{FF2B5EF4-FFF2-40B4-BE49-F238E27FC236}">
                <a16:creationId xmlns:a16="http://schemas.microsoft.com/office/drawing/2014/main" id="{105E4DEF-5CDB-4043-8341-B9C43357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051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NO-GO</a:t>
            </a:r>
          </a:p>
        </p:txBody>
      </p:sp>
      <p:sp>
        <p:nvSpPr>
          <p:cNvPr id="13" name="world-close-heading-2">
            <a:extLst xmlns:a="http://schemas.openxmlformats.org/drawingml/2006/main">
              <a:ext uri="{FF2B5EF4-FFF2-40B4-BE49-F238E27FC236}">
                <a16:creationId xmlns:a16="http://schemas.microsoft.com/office/drawing/2014/main" id="{452D42ED-3621-4A69-B02B-583C1778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910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authority</a:t>
            </a:r>
          </a:p>
        </p:txBody>
      </p:sp>
      <p:sp>
        <p:nvSpPr>
          <p:cNvPr id="14" name="world-close-body-2">
            <a:extLst xmlns:a="http://schemas.openxmlformats.org/drawingml/2006/main">
              <a:ext uri="{FF2B5EF4-FFF2-40B4-BE49-F238E27FC236}">
                <a16:creationId xmlns:a16="http://schemas.microsoft.com/office/drawing/2014/main" id="{3FF9F8BF-6191-42D8-B6B3-DBF31473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9650"/>
            <a:ext cx="2905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The strict offline adapter exists; live World authority remains explicitly unproven.</a:t>
            </a:r>
          </a:p>
        </p:txBody>
      </p:sp>
      <p:sp>
        <p:nvSpPr>
          <p:cNvPr id="15" name="world-close-takeaway">
            <a:extLst xmlns:a="http://schemas.openxmlformats.org/drawingml/2006/main">
              <a:ext uri="{FF2B5EF4-FFF2-40B4-BE49-F238E27FC236}">
                <a16:creationId xmlns:a16="http://schemas.microsoft.com/office/drawing/2014/main" id="{593FFEC5-69C0-49A0-807E-B8025C1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World is useful because it changes the authorization result—not because it adds an identity badge.</a:t>
            </a:r>
          </a:p>
        </p:txBody>
      </p:sp>
      <p:sp>
        <p:nvSpPr>
          <p:cNvPr id="16" name="page-6">
            <a:extLst xmlns:a="http://schemas.openxmlformats.org/drawingml/2006/main">
              <a:ext uri="{FF2B5EF4-FFF2-40B4-BE49-F238E27FC236}">
                <a16:creationId xmlns:a16="http://schemas.microsoft.com/office/drawing/2014/main" id="{99383025-5FF2-4DB9-BADF-4B04201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1330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2026-07-26T08:57:06.8960000Z</dcterms:created>
  <dcterms:modified xsi:type="dcterms:W3CDTF">2026-07-26T08:57:06.8960000Z</dcterms:modified>
</coreProperties>
</file>